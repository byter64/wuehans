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6" r:id="rId5"/>
    <p:sldId id="337" r:id="rId6"/>
    <p:sldId id="297" r:id="rId7"/>
    <p:sldId id="299" r:id="rId8"/>
    <p:sldId id="313" r:id="rId9"/>
    <p:sldId id="308" r:id="rId10"/>
    <p:sldId id="336" r:id="rId11"/>
    <p:sldId id="326" r:id="rId12"/>
    <p:sldId id="315" r:id="rId13"/>
    <p:sldId id="320" r:id="rId14"/>
    <p:sldId id="321" r:id="rId15"/>
    <p:sldId id="316" r:id="rId16"/>
    <p:sldId id="317" r:id="rId17"/>
    <p:sldId id="323" r:id="rId18"/>
    <p:sldId id="318" r:id="rId19"/>
    <p:sldId id="300" r:id="rId20"/>
    <p:sldId id="325" r:id="rId21"/>
    <p:sldId id="331" r:id="rId22"/>
    <p:sldId id="332" r:id="rId23"/>
    <p:sldId id="333" r:id="rId24"/>
    <p:sldId id="334" r:id="rId25"/>
    <p:sldId id="335" r:id="rId26"/>
    <p:sldId id="304" r:id="rId27"/>
    <p:sldId id="322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führende Folien (Yannik?)" id="{D256C36B-7231-4D3A-9403-469489A7C031}">
          <p14:sldIdLst>
            <p14:sldId id="256"/>
            <p14:sldId id="337"/>
            <p14:sldId id="297"/>
          </p14:sldIdLst>
        </p14:section>
        <p14:section name="Hardwareteil (Yannik)" id="{A7160993-8E7F-4220-A874-5828F132EBF0}">
          <p14:sldIdLst>
            <p14:sldId id="299"/>
            <p14:sldId id="313"/>
            <p14:sldId id="308"/>
            <p14:sldId id="336"/>
            <p14:sldId id="326"/>
          </p14:sldIdLst>
        </p14:section>
        <p14:section name="Timos Teil (Timo)" id="{A5D7EA21-8412-41D8-B05B-1DB1407C19C2}">
          <p14:sldIdLst>
            <p14:sldId id="315"/>
            <p14:sldId id="320"/>
            <p14:sldId id="321"/>
            <p14:sldId id="316"/>
            <p14:sldId id="317"/>
            <p14:sldId id="323"/>
            <p14:sldId id="318"/>
          </p14:sldIdLst>
        </p14:section>
        <p14:section name="Softwareseite (Jonathan)" id="{19D8FADE-7CA8-4992-A6DD-E4639905CECB}">
          <p14:sldIdLst>
            <p14:sldId id="300"/>
          </p14:sldIdLst>
        </p14:section>
        <p14:section name="Gamejam und Ende (Jonathan?)" id="{332ED97E-1A77-45CB-973E-8D3E80507CCB}">
          <p14:sldIdLst>
            <p14:sldId id="325"/>
            <p14:sldId id="331"/>
            <p14:sldId id="332"/>
            <p14:sldId id="333"/>
            <p14:sldId id="334"/>
            <p14:sldId id="335"/>
            <p14:sldId id="304"/>
            <p14:sldId id="3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3D4"/>
    <a:srgbClr val="00488E"/>
    <a:srgbClr val="D2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C9A27-F00D-1A43-AA87-571871182BF7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644A2-3F05-2A4B-8EB8-D5172D05DF7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972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>
                <a:ea typeface="Calibri"/>
                <a:cs typeface="Calibri"/>
              </a:rPr>
              <a:t>Slide danach mit Spielekonsole, die schon existiert und dazu die einleitenden Worte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8136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5670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+ </a:t>
            </a:r>
            <a:r>
              <a:rPr lang="en-US" err="1">
                <a:ea typeface="Calibri"/>
                <a:cs typeface="Calibri"/>
              </a:rPr>
              <a:t>Tabelle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ausm</a:t>
            </a:r>
            <a:r>
              <a:rPr lang="en-US">
                <a:ea typeface="Calibri"/>
                <a:cs typeface="Calibri"/>
              </a:rPr>
              <a:t> Wiki. </a:t>
            </a:r>
            <a:r>
              <a:rPr lang="en-US" err="1">
                <a:ea typeface="Calibri"/>
                <a:cs typeface="Calibri"/>
              </a:rPr>
              <a:t>Gibt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Daten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Befehle</a:t>
            </a:r>
            <a:r>
              <a:rPr lang="en-US">
                <a:ea typeface="Calibri"/>
                <a:cs typeface="Calibri"/>
              </a:rPr>
              <a:t>, ...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435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1-5 </a:t>
            </a:r>
            <a:r>
              <a:rPr lang="en-US" err="1">
                <a:ea typeface="Calibri"/>
                <a:cs typeface="Calibri"/>
              </a:rPr>
              <a:t>animieren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7742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909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Daten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zum</a:t>
            </a:r>
            <a:r>
              <a:rPr lang="en-US">
                <a:ea typeface="Calibri"/>
                <a:cs typeface="Calibri"/>
              </a:rPr>
              <a:t> FPGA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5656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Boxen </a:t>
            </a:r>
            <a:r>
              <a:rPr lang="en-US" err="1">
                <a:ea typeface="Calibri"/>
                <a:cs typeface="Calibri"/>
              </a:rPr>
              <a:t>über</a:t>
            </a:r>
            <a:r>
              <a:rPr lang="en-US">
                <a:ea typeface="Calibri"/>
                <a:cs typeface="Calibri"/>
              </a:rPr>
              <a:t> die Bilder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0430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Boxen </a:t>
            </a:r>
            <a:r>
              <a:rPr lang="en-US" err="1">
                <a:ea typeface="Calibri"/>
                <a:cs typeface="Calibri"/>
              </a:rPr>
              <a:t>mit</a:t>
            </a:r>
            <a:r>
              <a:rPr lang="en-US">
                <a:ea typeface="Calibri"/>
                <a:cs typeface="Calibri"/>
              </a:rPr>
              <a:t> Aufgabe der </a:t>
            </a:r>
            <a:r>
              <a:rPr lang="en-US" err="1">
                <a:ea typeface="Calibri"/>
                <a:cs typeface="Calibri"/>
              </a:rPr>
              <a:t>Platinen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8562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Screenshot von </a:t>
            </a:r>
            <a:r>
              <a:rPr lang="en-US" err="1">
                <a:ea typeface="Calibri"/>
                <a:cs typeface="Calibri"/>
              </a:rPr>
              <a:t>einem</a:t>
            </a:r>
            <a:r>
              <a:rPr lang="en-US">
                <a:ea typeface="Calibri"/>
                <a:cs typeface="Calibri"/>
              </a:rPr>
              <a:t> Tool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80572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5890A-D352-2EF9-4286-23E5AD949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CC161AA-7438-C6B4-0A53-0806DBE48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CC7E718-E0BD-E214-8A3B-C5052F68A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F6382C-6443-12B7-23F9-07916C9B8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861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90E40-A7F6-27CD-D69F-9E12CB52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BC053D7-382B-EC1C-0397-88E496561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4821AA0-5F75-0370-3FEC-70BF606F1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3E56628-10C0-E4FD-09D4-A48D5AF5C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1281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90188-9B9E-14CB-DF8C-F8F76132C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D014888-ECF1-A077-CC4B-1AF23719A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3E70022-20BA-197D-5587-C0AC7773C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2EC575-EE74-C5DD-2D72-DB4EB383E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4303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9527-1B7B-21C5-5456-3927907DB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4C43B58-A1C1-8498-7427-A7D5C3A38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C47D11C-9E0F-60F1-5F69-DB7508359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E3FF2E-3472-B7EC-1B61-063B0928A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90563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C0B1A-384E-5127-4D25-906D6DBE3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937CBF-867B-AE25-179C-23031AD6D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46AA57E-5E1E-89FA-F83D-47BE3CB0B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002C00-B5A6-7F25-2B97-B44D4868B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644A2-3F05-2A4B-8EB8-D5172D05DF77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535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fik 18">
            <a:extLst>
              <a:ext uri="{FF2B5EF4-FFF2-40B4-BE49-F238E27FC236}">
                <a16:creationId xmlns:a16="http://schemas.microsoft.com/office/drawing/2014/main" id="{B98C7193-0C6C-AB78-87A7-A669BF4835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737" y="-6040"/>
            <a:ext cx="12202737" cy="686404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4D40E994-068D-0473-D487-CACE42B059ED}"/>
              </a:ext>
            </a:extLst>
          </p:cNvPr>
          <p:cNvSpPr/>
          <p:nvPr userDrawn="1"/>
        </p:nvSpPr>
        <p:spPr>
          <a:xfrm>
            <a:off x="-6777" y="-5124"/>
            <a:ext cx="12192000" cy="1130661"/>
          </a:xfrm>
          <a:prstGeom prst="rect">
            <a:avLst/>
          </a:prstGeom>
          <a:solidFill>
            <a:srgbClr val="D1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F88EAC3-2791-87B0-E179-AEB36C4622BC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rgbClr val="D1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4DF257D-89B0-176D-13B3-735B180E0B47}"/>
              </a:ext>
            </a:extLst>
          </p:cNvPr>
          <p:cNvSpPr/>
          <p:nvPr userDrawn="1"/>
        </p:nvSpPr>
        <p:spPr>
          <a:xfrm>
            <a:off x="380009" y="1864426"/>
            <a:ext cx="11431982" cy="1211283"/>
          </a:xfrm>
          <a:prstGeom prst="rect">
            <a:avLst/>
          </a:prstGeom>
          <a:solidFill>
            <a:srgbClr val="0048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ECA437-35DE-2B4A-9397-A8C18128F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009" y="1864426"/>
            <a:ext cx="11424063" cy="653143"/>
          </a:xfrm>
        </p:spPr>
        <p:txBody>
          <a:bodyPr anchor="ctr">
            <a:noAutofit/>
          </a:bodyPr>
          <a:lstStyle>
            <a:lvl1pPr algn="ctr">
              <a:defRPr sz="3200" b="1" i="0">
                <a:solidFill>
                  <a:schemeClr val="bg1"/>
                </a:solidFill>
                <a:latin typeface="Meta Pro" panose="02000503040000020004" pitchFamily="2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86E9301-24F3-CA3D-E133-1342E31E9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009" y="2553198"/>
            <a:ext cx="11424063" cy="522511"/>
          </a:xfrm>
        </p:spPr>
        <p:txBody>
          <a:bodyPr anchor="ctr"/>
          <a:lstStyle>
            <a:lvl1pPr marL="0" indent="0" algn="ctr">
              <a:buNone/>
              <a:tabLst>
                <a:tab pos="3678238" algn="l"/>
              </a:tabLst>
              <a:defRPr sz="2400" b="0" i="0">
                <a:solidFill>
                  <a:schemeClr val="bg1"/>
                </a:solidFill>
                <a:latin typeface="Meta Pro Light" panose="0200050604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5082142-4870-F023-F358-630B0C6C07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565070" cy="112380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09661FE-C84D-FC7E-46A1-0A3191251E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569478" y="201966"/>
            <a:ext cx="2236631" cy="723753"/>
          </a:xfrm>
          <a:prstGeom prst="rect">
            <a:avLst/>
          </a:prstGeom>
        </p:spPr>
      </p:pic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C618AF4-3693-6666-DF03-F90D6E4022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71474" y="6561138"/>
            <a:ext cx="10453725" cy="2968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33DEEB4-B8CB-E5C8-E594-33FD0C3E6D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48311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userDrawn="1">
          <p15:clr>
            <a:srgbClr val="FBAE40"/>
          </p15:clr>
        </p15:guide>
        <p15:guide id="4" pos="234" userDrawn="1">
          <p15:clr>
            <a:srgbClr val="FBAE40"/>
          </p15:clr>
        </p15:guide>
        <p15:guide id="5" orient="horz" pos="709" userDrawn="1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orient="horz" pos="411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5FC2F4-C4F2-6723-B0CC-163A70BA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B78F30-F6CC-52DC-AD0C-62A772710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2C9792-EB3E-1A75-B49C-AF4CC1B54F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71474" y="6561138"/>
            <a:ext cx="10453725" cy="2968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50A182-1A3C-D0C1-96E0-B4F1023633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390867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DD0F4E-234D-1DCE-BF5E-1F3CBC55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41438"/>
            <a:ext cx="11449049" cy="32210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B4CC1E9-13E4-07E4-F0B4-62E8F1384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599" y="4589463"/>
            <a:ext cx="11438925" cy="17557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AFF378-3823-FC97-1AD5-51378073D2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71474" y="6561138"/>
            <a:ext cx="10453725" cy="2968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4B0139-AD9F-2675-3206-6842B00375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579622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13128C-5401-243C-2193-47B33AA8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F156AD-C396-98BD-D90F-5FEE2E75C4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1341438"/>
            <a:ext cx="5659211" cy="5003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A13784-DB78-D0B7-7008-337EECEF0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1312" y="1341438"/>
            <a:ext cx="5659212" cy="5003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AC770D-4D75-6F48-CA48-B6DAEA5E5F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71474" y="6561138"/>
            <a:ext cx="10453725" cy="2968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47E32C6-DDF1-63D1-78E7-6801981357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2213947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13128C-5401-243C-2193-47B33AA8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F156AD-C396-98BD-D90F-5FEE2E75C4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1341438"/>
            <a:ext cx="3692316" cy="5003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A13784-DB78-D0B7-7008-337EECEF0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13486" y="1341438"/>
            <a:ext cx="3707038" cy="5003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3">
            <a:extLst>
              <a:ext uri="{FF2B5EF4-FFF2-40B4-BE49-F238E27FC236}">
                <a16:creationId xmlns:a16="http://schemas.microsoft.com/office/drawing/2014/main" id="{30B98FCD-7870-CFDB-4239-8F299C51B16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67199" y="1341438"/>
            <a:ext cx="3642879" cy="5003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403139A-F339-2358-F005-2CA9FF825A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71474" y="6561138"/>
            <a:ext cx="10453725" cy="2968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3176D94-294C-9215-EFFC-90D9DB18F4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3978842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A23B57-200C-5821-C025-179309A6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F22BA65-79C7-7375-C31C-038EDFD82C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71474" y="6561138"/>
            <a:ext cx="10453725" cy="2968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FEAF31-C5D5-A054-B225-DC876E2EF0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D06F177-A8D5-69E4-40F2-FAC7F89CAB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737" y="-6040"/>
            <a:ext cx="12202737" cy="686404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C64730E4-A4BE-CD6B-4A27-B3190A2DEFD8}"/>
              </a:ext>
            </a:extLst>
          </p:cNvPr>
          <p:cNvSpPr/>
          <p:nvPr userDrawn="1"/>
        </p:nvSpPr>
        <p:spPr>
          <a:xfrm>
            <a:off x="0" y="-6043"/>
            <a:ext cx="12192000" cy="1130661"/>
          </a:xfrm>
          <a:prstGeom prst="rect">
            <a:avLst/>
          </a:prstGeom>
          <a:solidFill>
            <a:srgbClr val="D1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3A9497D-610D-4B92-F8B4-44FD577B11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76255" y="201047"/>
            <a:ext cx="2236631" cy="723753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C0B8E148-20BA-7ADF-366D-42CEFB5A4691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rgbClr val="D1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ußzeilenplatzhalter 10">
            <a:extLst>
              <a:ext uri="{FF2B5EF4-FFF2-40B4-BE49-F238E27FC236}">
                <a16:creationId xmlns:a16="http://schemas.microsoft.com/office/drawing/2014/main" id="{53FEFBB0-AE04-98DE-0B8B-5D4CC51911EC}"/>
              </a:ext>
            </a:extLst>
          </p:cNvPr>
          <p:cNvSpPr txBox="1">
            <a:spLocks/>
          </p:cNvSpPr>
          <p:nvPr userDrawn="1"/>
        </p:nvSpPr>
        <p:spPr>
          <a:xfrm>
            <a:off x="371475" y="6538908"/>
            <a:ext cx="10453725" cy="319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It‘s the Memory, Stupid! | Antrittsvorlesung Prof. Dr. Matthias Jung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036DE60-7746-7AD5-E1A4-035796D7468F}"/>
              </a:ext>
            </a:extLst>
          </p:cNvPr>
          <p:cNvSpPr txBox="1"/>
          <p:nvPr userDrawn="1"/>
        </p:nvSpPr>
        <p:spPr>
          <a:xfrm>
            <a:off x="371475" y="2782669"/>
            <a:ext cx="26725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400" b="0" i="0">
                <a:latin typeface="Meta Pro Light" panose="02000506040000020004" pitchFamily="2" charset="0"/>
              </a:rPr>
              <a:t>Questions</a:t>
            </a:r>
            <a:r>
              <a:rPr lang="de-DE" sz="3600" b="0" i="0">
                <a:latin typeface="Meta Pro Light" panose="02000506040000020004" pitchFamily="2" charset="0"/>
              </a:rPr>
              <a:t>?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E403908-E440-05F0-3827-51191FAE9FA9}"/>
              </a:ext>
            </a:extLst>
          </p:cNvPr>
          <p:cNvSpPr txBox="1"/>
          <p:nvPr userDrawn="1"/>
        </p:nvSpPr>
        <p:spPr>
          <a:xfrm>
            <a:off x="8348100" y="4648346"/>
            <a:ext cx="34724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400" b="0" i="0">
                <a:latin typeface="Meta Pro Light" panose="02000506040000020004" pitchFamily="2" charset="0"/>
              </a:rPr>
              <a:t>Prof. Dr.-Ing. Matthias Jung</a:t>
            </a:r>
            <a:br>
              <a:rPr lang="de-DE" sz="2400" b="0" i="0">
                <a:latin typeface="Meta Pro Light" panose="02000506040000020004" pitchFamily="2" charset="0"/>
              </a:rPr>
            </a:br>
            <a:r>
              <a:rPr lang="de-DE" sz="2000" b="0" i="0" err="1">
                <a:solidFill>
                  <a:schemeClr val="accent1"/>
                </a:solidFill>
                <a:latin typeface="Meta Pro Light" panose="02000506040000020004" pitchFamily="2" charset="0"/>
              </a:rPr>
              <a:t>m.jung@uni-wuerzburg.de</a:t>
            </a:r>
            <a:endParaRPr lang="de-DE" sz="2400" b="0" i="0">
              <a:solidFill>
                <a:schemeClr val="accent1"/>
              </a:solidFill>
              <a:latin typeface="Meta Pro Light" panose="02000506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15179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5CBBC944-0A4B-73E0-198A-F1C74C31275C}"/>
              </a:ext>
            </a:extLst>
          </p:cNvPr>
          <p:cNvSpPr/>
          <p:nvPr userDrawn="1"/>
        </p:nvSpPr>
        <p:spPr>
          <a:xfrm>
            <a:off x="-6777" y="-5124"/>
            <a:ext cx="12192000" cy="1130661"/>
          </a:xfrm>
          <a:prstGeom prst="rect">
            <a:avLst/>
          </a:prstGeom>
          <a:solidFill>
            <a:srgbClr val="D1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326AEDA-B094-A450-2A40-9F1A46634CAE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rgbClr val="D1D3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5C02A48C-B245-352E-EF8D-DCC3ED56012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569478" y="201966"/>
            <a:ext cx="2236631" cy="723753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497C123-C14D-64EB-F260-8679BCA37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-5123"/>
            <a:ext cx="8818889" cy="1130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8A845F1-B137-2593-939A-B77E78848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1341438"/>
            <a:ext cx="1144905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05BF02-B103-89CE-B54C-F4D1E8A23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5200" y="6566399"/>
            <a:ext cx="995324" cy="291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de-DE" sz="1400" b="0" i="0" smtClean="0">
                <a:latin typeface="Meta Pro Light" panose="02000506040000020004" pitchFamily="2" charset="0"/>
              </a:defRPr>
            </a:lvl1pPr>
          </a:lstStyle>
          <a:p>
            <a:fld id="{505BAC59-7618-A949-8C39-4EE42A6BFE56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B6EB105F-6458-2F63-DF41-451D68C38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1475" y="6538908"/>
            <a:ext cx="10453725" cy="319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>
                <a:solidFill>
                  <a:schemeClr val="tx1"/>
                </a:solidFill>
                <a:latin typeface="Meta Pro Light" panose="02000506040000020004" pitchFamily="2" charset="0"/>
              </a:defRPr>
            </a:lvl1pPr>
          </a:lstStyle>
          <a:p>
            <a:r>
              <a:rPr lang="de-DE" err="1"/>
              <a:t>wueHans | Yannik Stamm, Jonathan Hager, Timo Grundheber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286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Meta Pro" panose="02000503040000020004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500"/>
        </a:spcAft>
        <a:buClr>
          <a:schemeClr val="accent1"/>
        </a:buClr>
        <a:buFontTx/>
        <a:buNone/>
        <a:defRPr sz="2400" b="1" i="0" kern="1200">
          <a:solidFill>
            <a:schemeClr val="tx1"/>
          </a:solidFill>
          <a:latin typeface="Meta Pro" panose="02000503040000020004" pitchFamily="2" charset="0"/>
          <a:ea typeface="+mn-ea"/>
          <a:cs typeface="+mn-cs"/>
        </a:defRPr>
      </a:lvl1pPr>
      <a:lvl2pPr marL="468000" indent="-288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accent1"/>
        </a:buClr>
        <a:buFont typeface="Helvetica" pitchFamily="2" charset="0"/>
        <a:buChar char="■"/>
        <a:defRPr sz="2400" b="0" i="0" kern="1200">
          <a:solidFill>
            <a:schemeClr val="tx1"/>
          </a:solidFill>
          <a:latin typeface="Meta Pro Light" panose="02000506040000020004" pitchFamily="2" charset="0"/>
          <a:ea typeface="+mn-ea"/>
          <a:cs typeface="+mn-cs"/>
        </a:defRPr>
      </a:lvl2pPr>
      <a:lvl3pPr marL="720000" indent="-288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accent6"/>
        </a:buClr>
        <a:buFont typeface="Helvetica" pitchFamily="2" charset="0"/>
        <a:buChar char="■"/>
        <a:defRPr sz="2400" b="0" i="0" kern="1200">
          <a:solidFill>
            <a:schemeClr val="tx1"/>
          </a:solidFill>
          <a:latin typeface="Meta Pro Light" panose="02000506040000020004" pitchFamily="2" charset="0"/>
          <a:ea typeface="+mn-ea"/>
          <a:cs typeface="+mn-cs"/>
        </a:defRPr>
      </a:lvl3pPr>
      <a:lvl4pPr marL="1080000" indent="-288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accent6"/>
        </a:buClr>
        <a:buFont typeface="Symbol" pitchFamily="2" charset="2"/>
        <a:buChar char="-"/>
        <a:defRPr sz="2400" b="0" i="0" kern="1200">
          <a:solidFill>
            <a:schemeClr val="tx1"/>
          </a:solidFill>
          <a:latin typeface="Meta Pro Light" panose="02000506040000020004" pitchFamily="2" charset="0"/>
          <a:ea typeface="+mn-ea"/>
          <a:cs typeface="+mn-cs"/>
        </a:defRPr>
      </a:lvl4pPr>
      <a:lvl5pPr marL="1440000" indent="-2880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b="0" i="0" kern="1200">
          <a:solidFill>
            <a:schemeClr val="tx1"/>
          </a:solidFill>
          <a:latin typeface="Meta Pro Light" panose="0200050604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orient="horz" pos="709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5" orient="horz" pos="845" userDrawn="1">
          <p15:clr>
            <a:srgbClr val="F26B43"/>
          </p15:clr>
        </p15:guide>
        <p15:guide id="6" orient="horz" pos="3997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4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5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6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image" Target="../media/image37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ons.wikimedia.org/wiki/File:Nintendo-Switch-wJoyCons-BlRd-Standing-FL.png" TargetMode="External"/><Relationship Id="rId3" Type="http://schemas.openxmlformats.org/officeDocument/2006/relationships/hyperlink" Target="https://github.com/YosysHQ/oss-cad-suite-build" TargetMode="External"/><Relationship Id="rId7" Type="http://schemas.openxmlformats.org/officeDocument/2006/relationships/hyperlink" Target="https://commons.wikimedia.org/wiki/File:Nintendo_Gamecube_Silver.JPG" TargetMode="External"/><Relationship Id="rId2" Type="http://schemas.openxmlformats.org/officeDocument/2006/relationships/hyperlink" Target="https://www.behance.net/gallery/74554165/SolidWorks-SNES-Controller?locale=de_D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un.hasenbraten.de/vasm/" TargetMode="External"/><Relationship Id="rId5" Type="http://schemas.openxmlformats.org/officeDocument/2006/relationships/hyperlink" Target="https://github.com/SpinalHDL/VexRiscv" TargetMode="External"/><Relationship Id="rId4" Type="http://schemas.openxmlformats.org/officeDocument/2006/relationships/hyperlink" Target="https://sourceware.org/newli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A83CF-70DA-3D16-E6D1-654FFCDE0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447" y="1864426"/>
            <a:ext cx="11442312" cy="1798424"/>
          </a:xfrm>
        </p:spPr>
        <p:txBody>
          <a:bodyPr>
            <a:normAutofit/>
          </a:bodyPr>
          <a:lstStyle/>
          <a:p>
            <a:r>
              <a:rPr lang="en-US" err="1"/>
              <a:t>wueHans</a:t>
            </a:r>
            <a:r>
              <a:rPr lang="en-US"/>
              <a:t>: A Full-Stack Open-Source RISC-V Gaming Console and SoC Architecture</a:t>
            </a:r>
            <a:endParaRPr lang="de-DE"/>
          </a:p>
          <a:p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7474F311-F02C-0AC4-4612-EEBE041116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de-DE" sz="1400">
                <a:solidFill>
                  <a:schemeClr val="tx1"/>
                </a:solidFill>
                <a:latin typeface="Meta Pro Light" panose="02000506040000020004" pitchFamily="2" charset="0"/>
              </a:rPr>
              <a:t>wueHans | Yannik Stamm, Jonathan Hager, Timo Grundheber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82EAED-59BA-2070-BEAC-EECA471E8E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4A57645-EA2E-561F-353E-FDEFAF1A7CF9}"/>
              </a:ext>
            </a:extLst>
          </p:cNvPr>
          <p:cNvSpPr txBox="1"/>
          <p:nvPr/>
        </p:nvSpPr>
        <p:spPr>
          <a:xfrm>
            <a:off x="3040930" y="3873137"/>
            <a:ext cx="6102220" cy="7078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2000" u="sng">
                <a:latin typeface="Meta Pro Light"/>
              </a:rPr>
              <a:t>Yannik Stamm</a:t>
            </a:r>
            <a:r>
              <a:rPr lang="de-DE" sz="2000">
                <a:latin typeface="Meta Pro Light"/>
              </a:rPr>
              <a:t>, </a:t>
            </a:r>
            <a:r>
              <a:rPr lang="de-DE" sz="2000" u="sng">
                <a:latin typeface="Meta Pro Light"/>
              </a:rPr>
              <a:t>Jonathan Hager</a:t>
            </a:r>
            <a:r>
              <a:rPr lang="de-DE" sz="2000">
                <a:latin typeface="Meta Pro Light"/>
              </a:rPr>
              <a:t>, </a:t>
            </a:r>
            <a:r>
              <a:rPr lang="de-DE" sz="2000" u="sng">
                <a:latin typeface="Meta Pro Light"/>
              </a:rPr>
              <a:t>Timo Grundheber</a:t>
            </a:r>
            <a:r>
              <a:rPr lang="de-DE" sz="2000">
                <a:latin typeface="Meta Pro Light"/>
              </a:rPr>
              <a:t>, Matthias Jung and Sebastian von Mammen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4255864-89DE-326E-4EE2-B22ADC979403}"/>
              </a:ext>
            </a:extLst>
          </p:cNvPr>
          <p:cNvSpPr txBox="1"/>
          <p:nvPr/>
        </p:nvSpPr>
        <p:spPr>
          <a:xfrm>
            <a:off x="3040930" y="4618369"/>
            <a:ext cx="6102220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de-DE" sz="2000">
                <a:latin typeface="Meta Pro Light"/>
              </a:rPr>
              <a:t>11.06.2026</a:t>
            </a:r>
            <a:endParaRPr lang="de-DE" sz="2000">
              <a:latin typeface="Meta Pro Light" panose="02000506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348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E3C942-72C0-8FE6-6E46-F54122234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Different </a:t>
            </a:r>
            <a:r>
              <a:rPr lang="de-DE" err="1">
                <a:latin typeface="Meta Pro"/>
              </a:rPr>
              <a:t>consoles</a:t>
            </a:r>
            <a:endParaRPr lang="de-DE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E072D3F-8492-B9CA-E6E6-4CC1E538F4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E5FE2AF-7294-6E99-363C-9ACAECA449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2</a:t>
            </a:fld>
            <a:endParaRPr lang="de-DE"/>
          </a:p>
        </p:txBody>
      </p:sp>
      <p:pic>
        <p:nvPicPr>
          <p:cNvPr id="6" name="Grafik 5" descr="Ein Bild, das Elektronik, Gamecontroller, Elektronisches Gerät, Im Haus enthält.&#10;&#10;KI-generierte Inhalte können fehlerhaft sein.">
            <a:extLst>
              <a:ext uri="{FF2B5EF4-FFF2-40B4-BE49-F238E27FC236}">
                <a16:creationId xmlns:a16="http://schemas.microsoft.com/office/drawing/2014/main" id="{63609EDC-EC0C-302F-1611-44274D1FD3D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-420000">
            <a:off x="522619" y="1770395"/>
            <a:ext cx="3827910" cy="2696659"/>
          </a:xfrm>
          <a:prstGeom prst="rect">
            <a:avLst/>
          </a:prstGeom>
        </p:spPr>
      </p:pic>
      <p:pic>
        <p:nvPicPr>
          <p:cNvPr id="12" name="Inhaltsplatzhalter 11" descr="Ein Bild, das Elektronisches Gerät, Elektronik, Handheld-Konsole, Spielekonsole enthält.&#10;&#10;KI-generierte Inhalte können fehlerhaft sein.">
            <a:extLst>
              <a:ext uri="{FF2B5EF4-FFF2-40B4-BE49-F238E27FC236}">
                <a16:creationId xmlns:a16="http://schemas.microsoft.com/office/drawing/2014/main" id="{1D6E49AB-17C3-7131-4A0A-69F6FEAE9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2592" y="3120959"/>
            <a:ext cx="4567475" cy="253528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532AD0ED-DC1C-24E5-E7FD-6D8DE7570C96}"/>
              </a:ext>
            </a:extLst>
          </p:cNvPr>
          <p:cNvSpPr txBox="1"/>
          <p:nvPr/>
        </p:nvSpPr>
        <p:spPr>
          <a:xfrm>
            <a:off x="178519" y="4320325"/>
            <a:ext cx="16833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>
                <a:ea typeface="Calibri"/>
                <a:cs typeface="Calibri"/>
              </a:rPr>
              <a:t>[7]</a:t>
            </a:r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55E1CE8-2208-E826-3E09-D2F9FE9B60BC}"/>
              </a:ext>
            </a:extLst>
          </p:cNvPr>
          <p:cNvSpPr txBox="1"/>
          <p:nvPr/>
        </p:nvSpPr>
        <p:spPr>
          <a:xfrm>
            <a:off x="10638565" y="5177938"/>
            <a:ext cx="93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>
                <a:ea typeface="Calibri"/>
                <a:cs typeface="Calibri"/>
              </a:rPr>
              <a:t>[8]</a:t>
            </a:r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40A3A8BC-20E8-A7D9-3025-49CF197616C7}"/>
              </a:ext>
            </a:extLst>
          </p:cNvPr>
          <p:cNvSpPr/>
          <p:nvPr/>
        </p:nvSpPr>
        <p:spPr>
          <a:xfrm>
            <a:off x="3046777" y="3259234"/>
            <a:ext cx="4769516" cy="10628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200" err="1">
                <a:latin typeface="Meta Pro"/>
                <a:ea typeface="Calibri"/>
                <a:cs typeface="Calibri"/>
              </a:rPr>
              <a:t>We've</a:t>
            </a:r>
            <a:r>
              <a:rPr lang="de-DE" sz="3200">
                <a:latin typeface="Meta Pro"/>
                <a:ea typeface="Calibri"/>
                <a:cs typeface="Calibri"/>
              </a:rPr>
              <a:t> </a:t>
            </a:r>
            <a:r>
              <a:rPr lang="de-DE" sz="3200" err="1">
                <a:latin typeface="Meta Pro"/>
                <a:ea typeface="Calibri"/>
                <a:cs typeface="Calibri"/>
              </a:rPr>
              <a:t>built</a:t>
            </a:r>
            <a:r>
              <a:rPr lang="de-DE" sz="3200">
                <a:latin typeface="Meta Pro"/>
                <a:ea typeface="Calibri"/>
                <a:cs typeface="Calibri"/>
              </a:rPr>
              <a:t> </a:t>
            </a:r>
            <a:r>
              <a:rPr lang="de-DE" sz="3200" err="1">
                <a:latin typeface="Meta Pro"/>
                <a:ea typeface="Calibri"/>
                <a:cs typeface="Calibri"/>
              </a:rPr>
              <a:t>our</a:t>
            </a:r>
            <a:r>
              <a:rPr lang="de-DE" sz="3200">
                <a:latin typeface="Meta Pro"/>
                <a:ea typeface="Calibri"/>
                <a:cs typeface="Calibri"/>
              </a:rPr>
              <a:t> own!</a:t>
            </a:r>
            <a:endParaRPr lang="de-DE" sz="3200">
              <a:latin typeface="Meta Pro"/>
            </a:endParaRPr>
          </a:p>
        </p:txBody>
      </p:sp>
    </p:spTree>
    <p:extLst>
      <p:ext uri="{BB962C8B-B14F-4D97-AF65-F5344CB8AC3E}">
        <p14:creationId xmlns:p14="http://schemas.microsoft.com/office/powerpoint/2010/main" val="4120883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95C8F4-969F-0094-9D30-1F3476A60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Progress </a:t>
            </a:r>
            <a:r>
              <a:rPr lang="de-DE" err="1">
                <a:latin typeface="Meta Pro"/>
              </a:rPr>
              <a:t>of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our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console</a:t>
            </a:r>
            <a:endParaRPr lang="de-DE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9EC912-A231-F794-0EBF-6375C0ED52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EF710C4-C06B-9EA1-5E29-3656B8D150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A6A255EE-97D0-7702-B46E-83D127006AA0}"/>
              </a:ext>
            </a:extLst>
          </p:cNvPr>
          <p:cNvSpPr/>
          <p:nvPr/>
        </p:nvSpPr>
        <p:spPr>
          <a:xfrm>
            <a:off x="5226905" y="2334723"/>
            <a:ext cx="2936400" cy="5914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 descr="Ein Bild, das Diagramm, Plan, Entwurf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35EF83A9-B3A9-2099-6C0D-B1BDDBA11F5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2904" y="1325284"/>
            <a:ext cx="4752129" cy="26089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6191928-389A-D0E6-553E-D86105040536}"/>
              </a:ext>
            </a:extLst>
          </p:cNvPr>
          <p:cNvSpPr txBox="1"/>
          <p:nvPr/>
        </p:nvSpPr>
        <p:spPr>
          <a:xfrm>
            <a:off x="5224441" y="2445817"/>
            <a:ext cx="1920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>
                <a:solidFill>
                  <a:schemeClr val="bg1"/>
                </a:solidFill>
                <a:latin typeface="Meta Pro"/>
                <a:ea typeface="Calibri"/>
                <a:cs typeface="Calibri"/>
              </a:rPr>
              <a:t>2023</a:t>
            </a:r>
            <a:endParaRPr lang="de-DE">
              <a:solidFill>
                <a:schemeClr val="bg1"/>
              </a:solidFill>
              <a:latin typeface="Meta Pro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71A117A-629C-E22D-B9F7-ED590487BF74}"/>
              </a:ext>
            </a:extLst>
          </p:cNvPr>
          <p:cNvSpPr txBox="1"/>
          <p:nvPr/>
        </p:nvSpPr>
        <p:spPr>
          <a:xfrm>
            <a:off x="7401141" y="2445818"/>
            <a:ext cx="1920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>
                <a:solidFill>
                  <a:srgbClr val="FFFFFF"/>
                </a:solidFill>
                <a:latin typeface="Meta Pro"/>
                <a:ea typeface="Calibri"/>
                <a:cs typeface="Calibri"/>
              </a:rPr>
              <a:t>2025</a:t>
            </a:r>
            <a:endParaRPr lang="de-DE">
              <a:solidFill>
                <a:srgbClr val="FFFFFF"/>
              </a:solidFill>
              <a:latin typeface="Meta Pro"/>
            </a:endParaRPr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E2076E6C-C61D-1681-89D3-1BA10ED28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3884" y="4508787"/>
            <a:ext cx="6812785" cy="5003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67995" lvl="1" indent="-287655"/>
            <a:r>
              <a:rPr lang="de-DE">
                <a:latin typeface="Meta Pro"/>
              </a:rPr>
              <a:t>Move </a:t>
            </a:r>
            <a:r>
              <a:rPr lang="de-DE" err="1">
                <a:latin typeface="Meta Pro"/>
              </a:rPr>
              <a:t>to</a:t>
            </a:r>
            <a:r>
              <a:rPr lang="de-DE">
                <a:latin typeface="Meta Pro"/>
              </a:rPr>
              <a:t> open source RISC-V </a:t>
            </a:r>
            <a:r>
              <a:rPr lang="de-DE" err="1">
                <a:latin typeface="Meta Pro"/>
              </a:rPr>
              <a:t>core</a:t>
            </a:r>
          </a:p>
          <a:p>
            <a:pPr marL="467995" lvl="1" indent="-287655"/>
            <a:r>
              <a:rPr lang="de-DE">
                <a:latin typeface="Meta Pro"/>
              </a:rPr>
              <a:t>FPGA-</a:t>
            </a:r>
            <a:r>
              <a:rPr lang="de-DE" err="1">
                <a:latin typeface="Meta Pro"/>
              </a:rPr>
              <a:t>based</a:t>
            </a:r>
          </a:p>
          <a:p>
            <a:pPr marL="467995" lvl="1" indent="-287655"/>
            <a:r>
              <a:rPr lang="de-DE">
                <a:latin typeface="Meta Pro"/>
              </a:rPr>
              <a:t>Custom GPU</a:t>
            </a:r>
          </a:p>
          <a:p>
            <a:pPr marL="467995" lvl="1" indent="-287655"/>
            <a:r>
              <a:rPr lang="de-DE">
                <a:latin typeface="Meta Pro"/>
              </a:rPr>
              <a:t>3D-printed </a:t>
            </a:r>
            <a:r>
              <a:rPr lang="de-DE" err="1">
                <a:latin typeface="Meta Pro"/>
              </a:rPr>
              <a:t>case</a:t>
            </a:r>
            <a:endParaRPr lang="de-DE">
              <a:latin typeface="Meta Pro"/>
            </a:endParaRP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7E27A889-6E9D-8902-839C-4BF07F2E002A}"/>
              </a:ext>
            </a:extLst>
          </p:cNvPr>
          <p:cNvSpPr txBox="1">
            <a:spLocks/>
          </p:cNvSpPr>
          <p:nvPr/>
        </p:nvSpPr>
        <p:spPr>
          <a:xfrm>
            <a:off x="358622" y="4505115"/>
            <a:ext cx="6812785" cy="500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Tx/>
              <a:buNone/>
              <a:defRPr sz="2400" b="1" i="0" kern="1200">
                <a:solidFill>
                  <a:schemeClr val="tx1"/>
                </a:solidFill>
                <a:latin typeface="Meta Pro" panose="02000503040000020004" pitchFamily="2" charset="0"/>
                <a:ea typeface="+mn-ea"/>
                <a:cs typeface="+mn-cs"/>
              </a:defRPr>
            </a:lvl1pPr>
            <a:lvl2pPr marL="468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Helvetica" pitchFamily="2" charset="0"/>
              <a:buChar char="■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2pPr>
            <a:lvl3pPr marL="72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Font typeface="Helvetica" pitchFamily="2" charset="0"/>
              <a:buChar char="■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3pPr>
            <a:lvl4pPr marL="108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Font typeface="Symbol" pitchFamily="2" charset="2"/>
              <a:buChar char="-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4pPr>
            <a:lvl5pPr marL="144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7995" lvl="1" indent="-287655"/>
            <a:r>
              <a:rPr lang="de-DE">
                <a:latin typeface="Meta Pro"/>
              </a:rPr>
              <a:t>Selfmade CPU </a:t>
            </a:r>
            <a:r>
              <a:rPr lang="de-DE" err="1">
                <a:latin typeface="Meta Pro"/>
              </a:rPr>
              <a:t>with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custom</a:t>
            </a:r>
            <a:r>
              <a:rPr lang="de-DE">
                <a:latin typeface="Meta Pro"/>
              </a:rPr>
              <a:t> ISA</a:t>
            </a:r>
            <a:endParaRPr lang="de-DE"/>
          </a:p>
          <a:p>
            <a:pPr marL="467995" lvl="1" indent="-287655"/>
            <a:r>
              <a:rPr lang="de-DE">
                <a:latin typeface="Meta Pro"/>
              </a:rPr>
              <a:t>FPGA-</a:t>
            </a:r>
            <a:r>
              <a:rPr lang="de-DE" err="1">
                <a:latin typeface="Meta Pro"/>
              </a:rPr>
              <a:t>based</a:t>
            </a:r>
            <a:endParaRPr lang="de-DE">
              <a:latin typeface="Meta Pro"/>
            </a:endParaRPr>
          </a:p>
          <a:p>
            <a:pPr marL="467995" lvl="1" indent="-287655"/>
            <a:r>
              <a:rPr lang="de-DE" err="1">
                <a:latin typeface="Meta Pro"/>
              </a:rPr>
              <a:t>Adapted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vasm</a:t>
            </a:r>
            <a:r>
              <a:rPr lang="de-DE">
                <a:latin typeface="Meta Pro"/>
              </a:rPr>
              <a:t> backend [6]</a:t>
            </a:r>
          </a:p>
          <a:p>
            <a:pPr marL="467995" lvl="1" indent="-287655"/>
            <a:r>
              <a:rPr lang="de-DE">
                <a:latin typeface="Meta Pro"/>
              </a:rPr>
              <a:t>Custom linker and </a:t>
            </a:r>
            <a:r>
              <a:rPr lang="de-DE" err="1">
                <a:latin typeface="Meta Pro"/>
              </a:rPr>
              <a:t>loader</a:t>
            </a:r>
            <a:endParaRPr lang="de-DE">
              <a:latin typeface="Meta Pro"/>
            </a:endParaRPr>
          </a:p>
        </p:txBody>
      </p:sp>
      <p:pic>
        <p:nvPicPr>
          <p:cNvPr id="6" name="Inhaltsplatzhalter 8" descr="Ein Bild, das Gamecontroller, Elektronisches Gerät, Joystick, Eingabegerät enthält.&#10;&#10;KI-generierte Inhalte können fehlerhaft sein.">
            <a:extLst>
              <a:ext uri="{FF2B5EF4-FFF2-40B4-BE49-F238E27FC236}">
                <a16:creationId xmlns:a16="http://schemas.microsoft.com/office/drawing/2014/main" id="{6B9A9435-9E29-386D-8305-1994D1C9670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1261" y="1325284"/>
            <a:ext cx="3708613" cy="2622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3416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BBBDDB-A0D3-7981-D51B-8D3A35088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Console Architecture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FEAD768-FB2F-911D-D6F8-5722CEB9D5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995128-EBBF-A4F5-3607-4EC87AC55D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E74BBD9D-D6B2-AD4F-BAFA-1728D4AD5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356" y="1486044"/>
            <a:ext cx="7172581" cy="4714815"/>
          </a:xfrm>
          <a:prstGeom prst="rect">
            <a:avLst/>
          </a:prstGeom>
        </p:spPr>
      </p:pic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C1A9518D-4D6C-600B-00B2-9E64892BF1E3}"/>
              </a:ext>
            </a:extLst>
          </p:cNvPr>
          <p:cNvSpPr txBox="1">
            <a:spLocks/>
          </p:cNvSpPr>
          <p:nvPr/>
        </p:nvSpPr>
        <p:spPr>
          <a:xfrm>
            <a:off x="7641359" y="1324283"/>
            <a:ext cx="4065330" cy="50392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Tx/>
              <a:buNone/>
              <a:defRPr sz="2400" b="1" i="0" kern="1200">
                <a:solidFill>
                  <a:schemeClr val="tx1"/>
                </a:solidFill>
                <a:latin typeface="Meta Pro" panose="02000503040000020004" pitchFamily="2" charset="0"/>
                <a:ea typeface="+mn-ea"/>
                <a:cs typeface="+mn-cs"/>
              </a:defRPr>
            </a:lvl1pPr>
            <a:lvl2pPr marL="468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Helvetica" pitchFamily="2" charset="0"/>
              <a:buChar char="■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2pPr>
            <a:lvl3pPr marL="72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Font typeface="Helvetica" pitchFamily="2" charset="0"/>
              <a:buChar char="■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3pPr>
            <a:lvl4pPr marL="108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Font typeface="Symbol" pitchFamily="2" charset="2"/>
              <a:buChar char="-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4pPr>
            <a:lvl5pPr marL="144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7995" lvl="1" indent="-287655"/>
            <a:r>
              <a:rPr lang="de-DE">
                <a:latin typeface="Meta Pro"/>
              </a:rPr>
              <a:t>50 MHz </a:t>
            </a:r>
            <a:r>
              <a:rPr lang="de-DE" err="1">
                <a:latin typeface="Meta Pro"/>
              </a:rPr>
              <a:t>VexRiscv</a:t>
            </a:r>
            <a:endParaRPr lang="de-DE">
              <a:latin typeface="Meta Pro"/>
            </a:endParaRPr>
          </a:p>
          <a:p>
            <a:pPr marL="467995" lvl="1" indent="-287655"/>
            <a:r>
              <a:rPr lang="de-DE">
                <a:latin typeface="Meta Pro"/>
              </a:rPr>
              <a:t>4 kB I- and D-cache</a:t>
            </a:r>
          </a:p>
          <a:p>
            <a:pPr marL="467995" lvl="1" indent="-287655"/>
            <a:r>
              <a:rPr lang="de-DE">
                <a:latin typeface="Meta Pro"/>
              </a:rPr>
              <a:t>400x240 </a:t>
            </a:r>
            <a:r>
              <a:rPr lang="de-DE" err="1">
                <a:latin typeface="Meta Pro"/>
              </a:rPr>
              <a:t>sprite-based</a:t>
            </a:r>
            <a:r>
              <a:rPr lang="de-DE">
                <a:latin typeface="Meta Pro"/>
              </a:rPr>
              <a:t> GPU</a:t>
            </a:r>
          </a:p>
          <a:p>
            <a:pPr marL="467995" lvl="1" indent="-287655"/>
            <a:r>
              <a:rPr lang="de-DE">
                <a:latin typeface="Meta Pro"/>
              </a:rPr>
              <a:t>32 kHz, 16-bit </a:t>
            </a:r>
            <a:r>
              <a:rPr lang="de-DE" err="1">
                <a:latin typeface="Meta Pro"/>
              </a:rPr>
              <a:t>audio</a:t>
            </a:r>
            <a:endParaRPr lang="de-DE">
              <a:latin typeface="Meta Pro"/>
            </a:endParaRPr>
          </a:p>
          <a:p>
            <a:pPr marL="467995" lvl="1" indent="-287655"/>
            <a:r>
              <a:rPr lang="de-DE">
                <a:latin typeface="Meta Pro"/>
              </a:rPr>
              <a:t>32 kB SRAM</a:t>
            </a:r>
          </a:p>
          <a:p>
            <a:pPr marL="467995" lvl="1" indent="-287655"/>
            <a:r>
              <a:rPr lang="de-DE">
                <a:latin typeface="Meta Pro"/>
              </a:rPr>
              <a:t>32 MB SDRAM</a:t>
            </a:r>
          </a:p>
          <a:p>
            <a:pPr marL="467995" lvl="1" indent="-287655"/>
            <a:r>
              <a:rPr lang="de-DE">
                <a:latin typeface="Meta Pro"/>
              </a:rPr>
              <a:t>Game </a:t>
            </a:r>
            <a:r>
              <a:rPr lang="de-DE" err="1">
                <a:latin typeface="Meta Pro"/>
              </a:rPr>
              <a:t>input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with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two</a:t>
            </a:r>
            <a:r>
              <a:rPr lang="de-DE">
                <a:latin typeface="Meta Pro"/>
              </a:rPr>
              <a:t> SNES </a:t>
            </a:r>
            <a:r>
              <a:rPr lang="de-DE" err="1">
                <a:latin typeface="Meta Pro"/>
              </a:rPr>
              <a:t>controllers</a:t>
            </a:r>
            <a:endParaRPr lang="de-DE">
              <a:latin typeface="Meta Pro"/>
            </a:endParaRPr>
          </a:p>
          <a:p>
            <a:pPr marL="467995" lvl="1" indent="-287655"/>
            <a:r>
              <a:rPr lang="de-DE">
                <a:latin typeface="Meta Pro"/>
              </a:rPr>
              <a:t>ELF </a:t>
            </a:r>
            <a:r>
              <a:rPr lang="de-DE" err="1">
                <a:latin typeface="Meta Pro"/>
              </a:rPr>
              <a:t>format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supported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by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the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bootloader</a:t>
            </a:r>
            <a:endParaRPr lang="de-DE">
              <a:latin typeface="Meta Pro"/>
            </a:endParaRPr>
          </a:p>
          <a:p>
            <a:pPr marL="467995" lvl="1" indent="-287655"/>
            <a:endParaRPr lang="de-DE">
              <a:latin typeface="Meta Pro"/>
            </a:endParaRPr>
          </a:p>
          <a:p>
            <a:pPr marL="467995" lvl="1" indent="-287655">
              <a:buFontTx/>
              <a:buNone/>
            </a:pPr>
            <a:endParaRPr lang="de-DE">
              <a:latin typeface="Meta Pro"/>
            </a:endParaRPr>
          </a:p>
        </p:txBody>
      </p:sp>
    </p:spTree>
    <p:extLst>
      <p:ext uri="{BB962C8B-B14F-4D97-AF65-F5344CB8AC3E}">
        <p14:creationId xmlns:p14="http://schemas.microsoft.com/office/powerpoint/2010/main" val="3001940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83CA1-2D28-706B-4C53-7B638B32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RISC-V CPU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A3282D1-C673-7C7E-0CF6-77F400D30E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E36899-F315-2136-BFB6-75B2BE6AA2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5</a:t>
            </a:fld>
            <a:endParaRPr lang="de-DE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A4D55112-F052-9D44-07DC-B70F112A5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333053"/>
              </p:ext>
            </p:extLst>
          </p:nvPr>
        </p:nvGraphicFramePr>
        <p:xfrm>
          <a:off x="7912197" y="2177286"/>
          <a:ext cx="3912612" cy="3337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306">
                  <a:extLst>
                    <a:ext uri="{9D8B030D-6E8A-4147-A177-3AD203B41FA5}">
                      <a16:colId xmlns:a16="http://schemas.microsoft.com/office/drawing/2014/main" val="3555733495"/>
                    </a:ext>
                  </a:extLst>
                </a:gridCol>
                <a:gridCol w="1956306">
                  <a:extLst>
                    <a:ext uri="{9D8B030D-6E8A-4147-A177-3AD203B41FA5}">
                      <a16:colId xmlns:a16="http://schemas.microsoft.com/office/drawing/2014/main" val="1564893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err="1">
                          <a:latin typeface="Meta Pro Light"/>
                        </a:rP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>
                          <a:latin typeface="Meta Pro Light"/>
                        </a:rPr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249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latin typeface="Meta Pro Light"/>
                          <a:ea typeface="Calibri"/>
                          <a:cs typeface="Calibri"/>
                        </a:rPr>
                        <a:t>0x00000000</a:t>
                      </a:r>
                      <a:endParaRPr lang="de-DE">
                        <a:latin typeface="Meta Pro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>
                          <a:latin typeface="Meta Pro Light"/>
                        </a:rPr>
                        <a:t>SDRAM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1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latin typeface="Meta Pro Light"/>
                          <a:ea typeface="Calibri"/>
                          <a:cs typeface="Calibri"/>
                        </a:rPr>
                        <a:t>0x02000000</a:t>
                      </a:r>
                      <a:endParaRPr lang="de-DE">
                        <a:latin typeface="Meta Pro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>
                          <a:latin typeface="Meta Pro Light"/>
                        </a:rPr>
                        <a:t>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132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latin typeface="Meta Pro Light"/>
                          <a:ea typeface="Calibri"/>
                          <a:cs typeface="Calibri"/>
                        </a:rPr>
                        <a:t>0x02000100</a:t>
                      </a:r>
                      <a:endParaRPr lang="de-DE">
                        <a:latin typeface="Meta Pro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>
                          <a:latin typeface="Meta Pro Light"/>
                        </a:rPr>
                        <a:t>Audio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883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latin typeface="Meta Pro Light"/>
                          <a:ea typeface="Calibri"/>
                          <a:cs typeface="Calibri"/>
                        </a:rPr>
                        <a:t>0x02000200</a:t>
                      </a:r>
                      <a:endParaRPr lang="de-DE">
                        <a:latin typeface="Meta Pro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>
                          <a:latin typeface="Meta Pro Light"/>
                        </a:rPr>
                        <a:t>Controller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94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latin typeface="Meta Pro Light"/>
                          <a:ea typeface="Calibri"/>
                          <a:cs typeface="Calibri"/>
                        </a:rPr>
                        <a:t>0x02000300</a:t>
                      </a:r>
                      <a:endParaRPr lang="de-DE">
                        <a:latin typeface="Meta Pro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>
                          <a:latin typeface="Meta Pro Light"/>
                        </a:rPr>
                        <a:t>Counter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742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latin typeface="Meta Pro Light"/>
                          <a:ea typeface="Calibri"/>
                          <a:cs typeface="Calibri"/>
                        </a:rPr>
                        <a:t>0x02002000</a:t>
                      </a:r>
                      <a:endParaRPr lang="de-DE">
                        <a:latin typeface="Meta Pro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>
                          <a:latin typeface="Meta Pro Light"/>
                        </a:rPr>
                        <a:t>Color </a:t>
                      </a:r>
                      <a:r>
                        <a:rPr lang="de-DE" err="1">
                          <a:latin typeface="Meta Pro Light"/>
                        </a:rPr>
                        <a:t>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4831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latin typeface="Meta Pro Light"/>
                        </a:rPr>
                        <a:t>0x02010000</a:t>
                      </a:r>
                      <a:endParaRPr lang="de-DE">
                        <a:latin typeface="Meta Pro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>
                          <a:latin typeface="Meta Pro Light"/>
                        </a:rPr>
                        <a:t>Bootloader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18944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800" b="0" i="0" u="none" strike="noStrike" noProof="0">
                          <a:latin typeface="Meta Pro Light"/>
                          <a:ea typeface="Calibri"/>
                          <a:cs typeface="Calibri"/>
                        </a:rPr>
                        <a:t>0x80000000</a:t>
                      </a:r>
                      <a:endParaRPr lang="de-DE">
                        <a:latin typeface="Meta Pro Ligh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>
                          <a:latin typeface="Meta Pro Light"/>
                        </a:rPr>
                        <a:t>SD-Card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923652"/>
                  </a:ext>
                </a:extLst>
              </a:tr>
            </a:tbl>
          </a:graphicData>
        </a:graphic>
      </p:graphicFrame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411CE5DE-449C-C055-53AD-1AB13369F80C}"/>
              </a:ext>
            </a:extLst>
          </p:cNvPr>
          <p:cNvSpPr txBox="1">
            <a:spLocks/>
          </p:cNvSpPr>
          <p:nvPr/>
        </p:nvSpPr>
        <p:spPr>
          <a:xfrm>
            <a:off x="364503" y="1344426"/>
            <a:ext cx="11449050" cy="500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Tx/>
              <a:buNone/>
              <a:defRPr sz="2400" b="1" i="0" kern="1200">
                <a:solidFill>
                  <a:schemeClr val="tx1"/>
                </a:solidFill>
                <a:latin typeface="Meta Pro" panose="02000503040000020004" pitchFamily="2" charset="0"/>
                <a:ea typeface="+mn-ea"/>
                <a:cs typeface="+mn-cs"/>
              </a:defRPr>
            </a:lvl1pPr>
            <a:lvl2pPr marL="468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Helvetica" pitchFamily="2" charset="0"/>
              <a:buChar char="■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2pPr>
            <a:lvl3pPr marL="72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Font typeface="Helvetica" pitchFamily="2" charset="0"/>
              <a:buChar char="■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3pPr>
            <a:lvl4pPr marL="108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Font typeface="Symbol" pitchFamily="2" charset="2"/>
              <a:buChar char="-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4pPr>
            <a:lvl5pPr marL="144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7995" lvl="1" indent="-287655">
              <a:buFont typeface="Helvetica" pitchFamily="2" charset="0"/>
              <a:buChar char="■"/>
            </a:pPr>
            <a:r>
              <a:rPr lang="de-DE" b="0" err="1">
                <a:latin typeface="Meta Pro"/>
              </a:rPr>
              <a:t>VexRiscv</a:t>
            </a:r>
            <a:r>
              <a:rPr lang="de-DE" b="0">
                <a:latin typeface="Meta Pro"/>
              </a:rPr>
              <a:t> (CPU) [5]</a:t>
            </a:r>
            <a:endParaRPr lang="de-DE" b="0">
              <a:latin typeface="Meta Pro Light" panose="02000506040000020004" pitchFamily="2" charset="0"/>
            </a:endParaRPr>
          </a:p>
          <a:p>
            <a:pPr marL="719455" lvl="2" indent="-287655"/>
            <a:r>
              <a:rPr lang="de-DE" err="1">
                <a:latin typeface="Meta Pro"/>
              </a:rPr>
              <a:t>many</a:t>
            </a:r>
            <a:r>
              <a:rPr lang="de-DE">
                <a:latin typeface="Meta Pro"/>
              </a:rPr>
              <a:t> alternatives, e.g., </a:t>
            </a:r>
            <a:r>
              <a:rPr lang="de-DE" err="1">
                <a:latin typeface="Meta Pro"/>
              </a:rPr>
              <a:t>Neorv</a:t>
            </a:r>
            <a:r>
              <a:rPr lang="de-DE">
                <a:latin typeface="Meta Pro"/>
              </a:rPr>
              <a:t>, </a:t>
            </a:r>
            <a:r>
              <a:rPr lang="de-DE" err="1">
                <a:latin typeface="Meta Pro"/>
              </a:rPr>
              <a:t>picorv</a:t>
            </a:r>
            <a:r>
              <a:rPr lang="de-DE">
                <a:latin typeface="Meta Pro"/>
              </a:rPr>
              <a:t>, ...</a:t>
            </a:r>
          </a:p>
          <a:p>
            <a:pPr marL="467995" lvl="1" indent="-287655">
              <a:buFont typeface="Helvetica" pitchFamily="2" charset="0"/>
              <a:buChar char="■"/>
            </a:pPr>
            <a:r>
              <a:rPr lang="de-DE" b="0">
                <a:latin typeface="Meta Pro"/>
              </a:rPr>
              <a:t>ISA </a:t>
            </a:r>
            <a:r>
              <a:rPr lang="de-DE" b="0" err="1">
                <a:latin typeface="Meta Pro"/>
              </a:rPr>
              <a:t>extensions</a:t>
            </a:r>
            <a:r>
              <a:rPr lang="de-DE" b="0">
                <a:latin typeface="Meta Pro"/>
              </a:rPr>
              <a:t>:</a:t>
            </a:r>
          </a:p>
          <a:p>
            <a:pPr marL="719455" lvl="2" indent="-287655"/>
            <a:r>
              <a:rPr lang="de-DE">
                <a:latin typeface="Meta Pro"/>
              </a:rPr>
              <a:t>Rv32imf</a:t>
            </a:r>
          </a:p>
          <a:p>
            <a:pPr marL="719455" lvl="2" indent="-287655"/>
            <a:r>
              <a:rPr lang="de-DE">
                <a:latin typeface="Meta Pro"/>
              </a:rPr>
              <a:t>Hardware </a:t>
            </a:r>
            <a:r>
              <a:rPr lang="de-DE" err="1">
                <a:latin typeface="Meta Pro"/>
              </a:rPr>
              <a:t>floating</a:t>
            </a:r>
            <a:r>
              <a:rPr lang="de-DE">
                <a:latin typeface="Meta Pro"/>
              </a:rPr>
              <a:t>-point support</a:t>
            </a:r>
          </a:p>
          <a:p>
            <a:pPr marL="467995" lvl="1" indent="-287655">
              <a:buFont typeface="Helvetica" pitchFamily="2" charset="0"/>
              <a:buChar char="■"/>
            </a:pPr>
            <a:r>
              <a:rPr lang="de-DE" b="0">
                <a:latin typeface="Meta Pro"/>
              </a:rPr>
              <a:t>Open-Source design </a:t>
            </a:r>
          </a:p>
          <a:p>
            <a:pPr marL="467995" lvl="1" indent="-287655">
              <a:buFont typeface="Helvetica" pitchFamily="2" charset="0"/>
              <a:buChar char="■"/>
            </a:pPr>
            <a:r>
              <a:rPr lang="de-DE" b="0">
                <a:latin typeface="Meta Pro"/>
              </a:rPr>
              <a:t>Memory-</a:t>
            </a:r>
            <a:r>
              <a:rPr lang="de-DE" b="0" err="1">
                <a:latin typeface="Meta Pro"/>
              </a:rPr>
              <a:t>mapped</a:t>
            </a:r>
            <a:r>
              <a:rPr lang="de-DE" b="0">
                <a:latin typeface="Meta Pro"/>
              </a:rPr>
              <a:t> </a:t>
            </a:r>
            <a:r>
              <a:rPr lang="de-DE" b="0" err="1">
                <a:latin typeface="Meta Pro"/>
              </a:rPr>
              <a:t>registers</a:t>
            </a:r>
            <a:r>
              <a:rPr lang="de-DE" b="0">
                <a:latin typeface="Meta Pro"/>
              </a:rPr>
              <a:t> </a:t>
            </a:r>
            <a:r>
              <a:rPr lang="de-DE" b="0" err="1">
                <a:latin typeface="Meta Pro"/>
              </a:rPr>
              <a:t>for</a:t>
            </a:r>
            <a:endParaRPr lang="de-DE" b="0">
              <a:latin typeface="Meta Pro"/>
            </a:endParaRPr>
          </a:p>
          <a:p>
            <a:pPr marL="719455" lvl="2" indent="-287655"/>
            <a:r>
              <a:rPr lang="de-DE">
                <a:latin typeface="Meta Pro"/>
              </a:rPr>
              <a:t>GPU</a:t>
            </a:r>
          </a:p>
          <a:p>
            <a:pPr marL="719455" lvl="2" indent="-287655"/>
            <a:r>
              <a:rPr lang="de-DE">
                <a:latin typeface="Meta Pro"/>
              </a:rPr>
              <a:t>Audio</a:t>
            </a:r>
          </a:p>
          <a:p>
            <a:pPr marL="719455" lvl="2" indent="-287655"/>
            <a:r>
              <a:rPr lang="de-DE">
                <a:latin typeface="Meta Pro"/>
              </a:rPr>
              <a:t>...</a:t>
            </a:r>
          </a:p>
          <a:p>
            <a:pPr marL="467995" lvl="1" indent="-287655">
              <a:buFont typeface="Helvetica" pitchFamily="2" charset="0"/>
              <a:buChar char="■"/>
            </a:pPr>
            <a:endParaRPr lang="de-DE" b="0">
              <a:latin typeface="Meta Pro"/>
            </a:endParaRP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EA9D006D-4F0C-5B1C-B964-03B9F70E5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9083" y="7362732"/>
            <a:ext cx="11449050" cy="50038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554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EAD90C-ECC8-8587-3DA3-917AACF3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Sprite-</a:t>
            </a:r>
            <a:r>
              <a:rPr lang="de-DE" err="1">
                <a:latin typeface="Meta Pro"/>
              </a:rPr>
              <a:t>Based</a:t>
            </a:r>
            <a:r>
              <a:rPr lang="de-DE">
                <a:latin typeface="Meta Pro"/>
              </a:rPr>
              <a:t> GPU</a:t>
            </a:r>
            <a:endParaRPr lang="de-DE"/>
          </a:p>
        </p:txBody>
      </p:sp>
      <p:pic>
        <p:nvPicPr>
          <p:cNvPr id="6" name="Inhaltsplatzhalter 5" descr="Ein Bild, das Pixel, Muster, Farbigkeit enthält.&#10;&#10;KI-generierte Inhalte können fehlerhaft sein.">
            <a:extLst>
              <a:ext uri="{FF2B5EF4-FFF2-40B4-BE49-F238E27FC236}">
                <a16:creationId xmlns:a16="http://schemas.microsoft.com/office/drawing/2014/main" id="{0E48C53C-3F3F-942F-0231-9D85C37C0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27618" y="2250325"/>
            <a:ext cx="4000500" cy="2857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2C4133D-27EB-2713-1F4D-8971887BF4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2172C2-6B72-CC44-FF96-43E4E2BD38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8" name="Grafik 7" descr="Ein Bild, das Screenshot enthält.&#10;&#10;KI-generierte Inhalte können fehlerhaft sein.">
            <a:extLst>
              <a:ext uri="{FF2B5EF4-FFF2-40B4-BE49-F238E27FC236}">
                <a16:creationId xmlns:a16="http://schemas.microsoft.com/office/drawing/2014/main" id="{F7F9FBD2-E759-AFFB-7E2F-D4AD63C11A0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09322" y="3111880"/>
            <a:ext cx="4905090" cy="2924803"/>
          </a:xfrm>
          <a:prstGeom prst="rect">
            <a:avLst/>
          </a:prstGeom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30AACBD-0224-E031-66CB-1A6FA2884284}"/>
              </a:ext>
            </a:extLst>
          </p:cNvPr>
          <p:cNvCxnSpPr/>
          <p:nvPr/>
        </p:nvCxnSpPr>
        <p:spPr>
          <a:xfrm flipV="1">
            <a:off x="1726061" y="2043910"/>
            <a:ext cx="3987895" cy="9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9E31EDD2-D6D4-F07E-B146-952533348394}"/>
              </a:ext>
            </a:extLst>
          </p:cNvPr>
          <p:cNvSpPr/>
          <p:nvPr/>
        </p:nvSpPr>
        <p:spPr>
          <a:xfrm>
            <a:off x="2754721" y="3621161"/>
            <a:ext cx="998175" cy="74863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7405B66-BEBE-DBD0-8D56-13A7540564CA}"/>
              </a:ext>
            </a:extLst>
          </p:cNvPr>
          <p:cNvSpPr txBox="1"/>
          <p:nvPr/>
        </p:nvSpPr>
        <p:spPr>
          <a:xfrm>
            <a:off x="1722469" y="1679585"/>
            <a:ext cx="40042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err="1">
                <a:latin typeface="Meta Pro"/>
                <a:ea typeface="Calibri"/>
                <a:cs typeface="Calibri"/>
              </a:rPr>
              <a:t>imageWidth</a:t>
            </a:r>
            <a:endParaRPr lang="de-DE">
              <a:latin typeface="Meta Pro"/>
              <a:ea typeface="Calibri"/>
              <a:cs typeface="Calibri"/>
            </a:endParaRP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0E8B8A7F-48C5-31E3-EFAB-79D6A5D7D1F1}"/>
              </a:ext>
            </a:extLst>
          </p:cNvPr>
          <p:cNvCxnSpPr/>
          <p:nvPr/>
        </p:nvCxnSpPr>
        <p:spPr>
          <a:xfrm>
            <a:off x="1000086" y="1908633"/>
            <a:ext cx="687294" cy="498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E001C5EC-9F59-A1FD-35B3-F894DD547D52}"/>
              </a:ext>
            </a:extLst>
          </p:cNvPr>
          <p:cNvCxnSpPr/>
          <p:nvPr/>
        </p:nvCxnSpPr>
        <p:spPr>
          <a:xfrm>
            <a:off x="10128834" y="3997167"/>
            <a:ext cx="597647" cy="64745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F90BB22B-8906-FCBE-1F89-9C0B53B01CE7}"/>
              </a:ext>
            </a:extLst>
          </p:cNvPr>
          <p:cNvSpPr/>
          <p:nvPr/>
        </p:nvSpPr>
        <p:spPr>
          <a:xfrm>
            <a:off x="10741851" y="4660383"/>
            <a:ext cx="319468" cy="31754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29974F0-2B93-55C6-C0D2-CE0F4C8BFFC9}"/>
              </a:ext>
            </a:extLst>
          </p:cNvPr>
          <p:cNvSpPr txBox="1"/>
          <p:nvPr/>
        </p:nvSpPr>
        <p:spPr>
          <a:xfrm>
            <a:off x="9191055" y="3614098"/>
            <a:ext cx="2134720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solidFill>
                  <a:srgbClr val="FFC000"/>
                </a:solidFill>
                <a:latin typeface="Meta Pro"/>
                <a:ea typeface="Calibri"/>
                <a:cs typeface="Calibri"/>
              </a:rPr>
              <a:t>(</a:t>
            </a:r>
            <a:r>
              <a:rPr lang="de-DE" err="1">
                <a:solidFill>
                  <a:srgbClr val="FFC000"/>
                </a:solidFill>
                <a:latin typeface="Meta Pro"/>
                <a:ea typeface="Calibri"/>
                <a:cs typeface="Calibri"/>
              </a:rPr>
              <a:t>screenX</a:t>
            </a:r>
            <a:r>
              <a:rPr lang="de-DE">
                <a:solidFill>
                  <a:srgbClr val="FFC000"/>
                </a:solidFill>
                <a:latin typeface="Meta Pro"/>
                <a:ea typeface="Calibri"/>
                <a:cs typeface="Calibri"/>
              </a:rPr>
              <a:t>, </a:t>
            </a:r>
            <a:r>
              <a:rPr lang="de-DE" err="1">
                <a:solidFill>
                  <a:srgbClr val="FFC000"/>
                </a:solidFill>
                <a:latin typeface="Meta Pro"/>
                <a:ea typeface="Calibri"/>
                <a:cs typeface="Calibri"/>
              </a:rPr>
              <a:t>screenY</a:t>
            </a:r>
            <a:r>
              <a:rPr lang="de-DE">
                <a:solidFill>
                  <a:srgbClr val="FFC000"/>
                </a:solidFill>
                <a:latin typeface="Meta Pro"/>
                <a:ea typeface="Calibri"/>
                <a:cs typeface="Calibri"/>
              </a:rPr>
              <a:t>)</a:t>
            </a:r>
            <a:endParaRPr lang="de-DE">
              <a:solidFill>
                <a:srgbClr val="FFC000"/>
              </a:solidFill>
              <a:latin typeface="Meta Pro"/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80EEF774-F203-EA39-EF18-44F4F3CD7E94}"/>
              </a:ext>
            </a:extLst>
          </p:cNvPr>
          <p:cNvCxnSpPr/>
          <p:nvPr/>
        </p:nvCxnSpPr>
        <p:spPr>
          <a:xfrm flipV="1">
            <a:off x="2751662" y="5316592"/>
            <a:ext cx="972046" cy="190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C522097C-31AC-94DD-568E-70908651084B}"/>
              </a:ext>
            </a:extLst>
          </p:cNvPr>
          <p:cNvCxnSpPr/>
          <p:nvPr/>
        </p:nvCxnSpPr>
        <p:spPr>
          <a:xfrm flipH="1">
            <a:off x="1526252" y="3611389"/>
            <a:ext cx="991" cy="7506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37F4F000-08A1-526B-167C-36DC7D50DA1E}"/>
              </a:ext>
            </a:extLst>
          </p:cNvPr>
          <p:cNvSpPr txBox="1"/>
          <p:nvPr/>
        </p:nvSpPr>
        <p:spPr>
          <a:xfrm>
            <a:off x="2720447" y="5401670"/>
            <a:ext cx="9954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err="1">
                <a:latin typeface="Meta Pro"/>
                <a:ea typeface="Calibri"/>
                <a:cs typeface="Calibri"/>
              </a:rPr>
              <a:t>width</a:t>
            </a:r>
            <a:endParaRPr lang="de-DE">
              <a:latin typeface="Meta Pro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CC7E1E2-6E62-F3E7-9348-B0674087EFED}"/>
              </a:ext>
            </a:extLst>
          </p:cNvPr>
          <p:cNvSpPr txBox="1"/>
          <p:nvPr/>
        </p:nvSpPr>
        <p:spPr>
          <a:xfrm>
            <a:off x="131748" y="2606886"/>
            <a:ext cx="18064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latin typeface="Meta Pro"/>
                <a:ea typeface="Calibri"/>
                <a:cs typeface="Calibri"/>
              </a:rPr>
              <a:t>(</a:t>
            </a:r>
            <a:r>
              <a:rPr lang="de-DE" err="1">
                <a:latin typeface="Meta Pro"/>
                <a:ea typeface="Calibri"/>
                <a:cs typeface="Calibri"/>
              </a:rPr>
              <a:t>xOffset</a:t>
            </a:r>
            <a:r>
              <a:rPr lang="de-DE">
                <a:latin typeface="Meta Pro"/>
                <a:ea typeface="Calibri"/>
                <a:cs typeface="Calibri"/>
              </a:rPr>
              <a:t>, </a:t>
            </a:r>
            <a:r>
              <a:rPr lang="de-DE" err="1">
                <a:latin typeface="Meta Pro"/>
                <a:ea typeface="Calibri"/>
                <a:cs typeface="Calibri"/>
              </a:rPr>
              <a:t>yOffset</a:t>
            </a:r>
            <a:r>
              <a:rPr lang="de-DE">
                <a:latin typeface="Meta Pro"/>
                <a:ea typeface="Calibri"/>
                <a:cs typeface="Calibri"/>
              </a:rPr>
              <a:t>)</a:t>
            </a:r>
            <a:endParaRPr lang="de-DE">
              <a:latin typeface="Meta Pro"/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4DC9EF3-36F6-A2AF-DD0E-3A09F8256239}"/>
              </a:ext>
            </a:extLst>
          </p:cNvPr>
          <p:cNvSpPr txBox="1"/>
          <p:nvPr/>
        </p:nvSpPr>
        <p:spPr>
          <a:xfrm>
            <a:off x="544371" y="3884574"/>
            <a:ext cx="84983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err="1">
                <a:latin typeface="Meta Pro"/>
                <a:ea typeface="Calibri"/>
                <a:cs typeface="Calibri"/>
              </a:rPr>
              <a:t>height</a:t>
            </a:r>
            <a:endParaRPr lang="de-DE">
              <a:latin typeface="Meta Pro"/>
            </a:endParaRP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3BD781CE-9411-9124-9AC5-93223E7624C2}"/>
              </a:ext>
            </a:extLst>
          </p:cNvPr>
          <p:cNvCxnSpPr/>
          <p:nvPr/>
        </p:nvCxnSpPr>
        <p:spPr>
          <a:xfrm>
            <a:off x="1133347" y="3023583"/>
            <a:ext cx="1590812" cy="603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7A30D349-3153-45C2-97BA-B9268A846475}"/>
              </a:ext>
            </a:extLst>
          </p:cNvPr>
          <p:cNvSpPr txBox="1"/>
          <p:nvPr/>
        </p:nvSpPr>
        <p:spPr>
          <a:xfrm>
            <a:off x="137307" y="1587445"/>
            <a:ext cx="139760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 err="1">
                <a:latin typeface="Meta Pro"/>
                <a:ea typeface="Calibri"/>
                <a:cs typeface="Calibri"/>
              </a:rPr>
              <a:t>imageStart</a:t>
            </a:r>
            <a:endParaRPr lang="de-DE">
              <a:latin typeface="Meta Pro"/>
            </a:endParaRPr>
          </a:p>
        </p:txBody>
      </p:sp>
    </p:spTree>
    <p:extLst>
      <p:ext uri="{BB962C8B-B14F-4D97-AF65-F5344CB8AC3E}">
        <p14:creationId xmlns:p14="http://schemas.microsoft.com/office/powerpoint/2010/main" val="3679987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B8C0C6-F17A-5672-72A2-CFD7F90E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Sprite-</a:t>
            </a:r>
            <a:r>
              <a:rPr lang="de-DE" err="1">
                <a:latin typeface="Meta Pro"/>
              </a:rPr>
              <a:t>Based</a:t>
            </a:r>
            <a:r>
              <a:rPr lang="de-DE">
                <a:latin typeface="Meta Pro"/>
              </a:rPr>
              <a:t> GPU</a:t>
            </a:r>
            <a:endParaRPr lang="de-DE"/>
          </a:p>
        </p:txBody>
      </p:sp>
      <p:pic>
        <p:nvPicPr>
          <p:cNvPr id="6" name="Inhaltsplatzhalter 5" descr="Ein Bild, das Screenshot, Text enthält.&#10;&#10;KI-generierte Inhalte können fehlerhaft sein.">
            <a:extLst>
              <a:ext uri="{FF2B5EF4-FFF2-40B4-BE49-F238E27FC236}">
                <a16:creationId xmlns:a16="http://schemas.microsoft.com/office/drawing/2014/main" id="{3357422C-00D1-FFFE-E453-1F87AAEAD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1475" y="1983987"/>
            <a:ext cx="8263340" cy="2892436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EAB098-E8A6-E46B-C89D-B99F76DEC7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6BCBC1-77A7-E1AD-8500-5F8D05FAFC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0FCC381-3C10-DDFF-0B33-63B2BBEDE5F7}"/>
              </a:ext>
            </a:extLst>
          </p:cNvPr>
          <p:cNvSpPr txBox="1"/>
          <p:nvPr/>
        </p:nvSpPr>
        <p:spPr>
          <a:xfrm>
            <a:off x="8873289" y="2254706"/>
            <a:ext cx="2947737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Rectangle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is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created</a:t>
            </a:r>
            <a:endParaRPr lang="de-DE">
              <a:latin typeface="Meta Pro"/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Address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of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the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desired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pixels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is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computed</a:t>
            </a:r>
            <a:endParaRPr lang="de-DE">
              <a:latin typeface="Meta Pro"/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Data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is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fetched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from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the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AXI Bus</a:t>
            </a:r>
          </a:p>
          <a:p>
            <a:pPr marL="342900" indent="-342900">
              <a:buAutoNum type="arabicPeriod"/>
            </a:pP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Images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only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store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indices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to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a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color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table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. The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correct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colors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are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fetched</a:t>
            </a:r>
            <a:endParaRPr lang="de-DE">
              <a:latin typeface="Meta Pro"/>
              <a:ea typeface="Calibri" panose="020F0502020204030204"/>
              <a:cs typeface="Calibri" panose="020F0502020204030204"/>
            </a:endParaRPr>
          </a:p>
          <a:p>
            <a:pPr marL="342900" indent="-342900">
              <a:buAutoNum type="arabicPeriod"/>
            </a:pP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The final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pixels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are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written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to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the</a:t>
            </a:r>
            <a:r>
              <a:rPr lang="de-DE">
                <a:latin typeface="Meta Pro"/>
                <a:ea typeface="Calibri" panose="020F0502020204030204"/>
                <a:cs typeface="Calibri" panose="020F0502020204030204"/>
              </a:rPr>
              <a:t> </a:t>
            </a:r>
            <a:r>
              <a:rPr lang="de-DE" err="1">
                <a:latin typeface="Meta Pro"/>
                <a:ea typeface="Calibri" panose="020F0502020204030204"/>
                <a:cs typeface="Calibri" panose="020F0502020204030204"/>
              </a:rPr>
              <a:t>framebuffer</a:t>
            </a:r>
            <a:endParaRPr lang="de-DE">
              <a:latin typeface="Meta Pro"/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32052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1E6DF9-4874-D947-D66A-30E70E8F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Audio System</a:t>
            </a:r>
            <a:endParaRPr lang="de-DE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BB90183-6610-855E-3CA1-8CAF453D93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2E2AB7-EA04-C35A-9882-8EAEC950EF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9" name="Inhaltsplatzhalter 8" descr="Ein Bild, das Diagramm, Plan, technische Zeichnung, Reihe enthält.&#10;&#10;KI-generierte Inhalte können fehlerhaft sein.">
            <a:extLst>
              <a:ext uri="{FF2B5EF4-FFF2-40B4-BE49-F238E27FC236}">
                <a16:creationId xmlns:a16="http://schemas.microsoft.com/office/drawing/2014/main" id="{98A6D732-316C-8EB3-10AD-D3212C6E77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44840" y="1258811"/>
            <a:ext cx="8567861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553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C0CCD-7700-5147-938D-76098B2F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eta Pro"/>
              </a:rPr>
              <a:t>Prototype</a:t>
            </a:r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CFE77-0FFD-E636-6EEB-EE44AE57DE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601EF-211E-30D0-38B0-EA54000903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9</a:t>
            </a:fld>
            <a:endParaRPr lang="de-DE"/>
          </a:p>
        </p:txBody>
      </p:sp>
      <p:pic>
        <p:nvPicPr>
          <p:cNvPr id="8" name="Grafik 7" descr="Ein Bild, das Im Haus, Elektronik, Elektronisches Gerät, Gerät enthält.&#10;&#10;KI-generierte Inhalte können fehlerhaft sein.">
            <a:extLst>
              <a:ext uri="{FF2B5EF4-FFF2-40B4-BE49-F238E27FC236}">
                <a16:creationId xmlns:a16="http://schemas.microsoft.com/office/drawing/2014/main" id="{89313672-6B29-20C2-38EE-556A606F6CA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90680" y="2015289"/>
            <a:ext cx="5405850" cy="3609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Inhaltsplatzhalter 13" descr="Ein Bild, das Elektronik, Kabel, Elektrische Leitungen, Text enthält.&#10;&#10;KI-generierte Inhalte können fehlerhaft sein.">
            <a:extLst>
              <a:ext uri="{FF2B5EF4-FFF2-40B4-BE49-F238E27FC236}">
                <a16:creationId xmlns:a16="http://schemas.microsoft.com/office/drawing/2014/main" id="{92F874D5-8B9A-0606-0623-7FF5F8156F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461" y="2093792"/>
            <a:ext cx="5655430" cy="34508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62934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A968C9-98B4-DBAC-594D-98718147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Prototype</a:t>
            </a:r>
            <a:endParaRPr lang="de-DE" b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18558A8-D117-782E-1AAC-FFDCFAEE85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206E93-13F0-585A-E3D8-4CBCBF5423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5986253F-929A-D8E4-5A39-55F9D786AC4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439358" y="1132579"/>
            <a:ext cx="7798085" cy="54252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1C8596DA-4486-2433-4190-747CA8CB856B}"/>
              </a:ext>
            </a:extLst>
          </p:cNvPr>
          <p:cNvSpPr txBox="1"/>
          <p:nvPr/>
        </p:nvSpPr>
        <p:spPr>
          <a:xfrm>
            <a:off x="590206" y="5579266"/>
            <a:ext cx="386539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de-DE" sz="1100"/>
              <a:t>[1]</a:t>
            </a:r>
            <a:endParaRPr lang="de-DE" sz="1100">
              <a:ea typeface="Calibri"/>
              <a:cs typeface="Calibri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423FDBB4-AAE7-F852-9B41-33452E019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6455" y="2387320"/>
            <a:ext cx="11449050" cy="50038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67995" lvl="1" indent="-287655"/>
            <a:r>
              <a:rPr lang="de-DE">
                <a:latin typeface="Meta Pro"/>
              </a:rPr>
              <a:t>Lattice ECP5 </a:t>
            </a:r>
            <a:r>
              <a:rPr lang="de-DE" err="1">
                <a:latin typeface="Meta Pro"/>
              </a:rPr>
              <a:t>with</a:t>
            </a:r>
            <a:r>
              <a:rPr lang="de-DE">
                <a:latin typeface="Meta Pro"/>
              </a:rPr>
              <a:t> 84k LUT</a:t>
            </a:r>
            <a:endParaRPr lang="de-DE"/>
          </a:p>
          <a:p>
            <a:pPr marL="467995" lvl="1" indent="-287655"/>
            <a:r>
              <a:rPr lang="de-DE">
                <a:latin typeface="Meta Pro"/>
              </a:rPr>
              <a:t>32 MB SDRAM</a:t>
            </a:r>
          </a:p>
          <a:p>
            <a:pPr marL="467995" lvl="1" indent="-287655"/>
            <a:r>
              <a:rPr lang="de-DE">
                <a:latin typeface="Meta Pro"/>
              </a:rPr>
              <a:t>Micro-SD </a:t>
            </a:r>
            <a:r>
              <a:rPr lang="de-DE" err="1">
                <a:latin typeface="Meta Pro"/>
              </a:rPr>
              <a:t>slot</a:t>
            </a:r>
            <a:r>
              <a:rPr lang="de-DE">
                <a:latin typeface="Meta Pro"/>
              </a:rPr>
              <a:t> (</a:t>
            </a:r>
            <a:r>
              <a:rPr lang="de-DE" err="1">
                <a:latin typeface="Meta Pro"/>
              </a:rPr>
              <a:t>to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store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the</a:t>
            </a:r>
            <a:r>
              <a:rPr lang="de-DE">
                <a:latin typeface="Meta Pro"/>
              </a:rPr>
              <a:t> game)</a:t>
            </a:r>
          </a:p>
          <a:p>
            <a:pPr marL="467995" lvl="1" indent="-287655"/>
            <a:r>
              <a:rPr lang="de-DE">
                <a:latin typeface="Meta Pro"/>
              </a:rPr>
              <a:t>Digital </a:t>
            </a:r>
            <a:r>
              <a:rPr lang="de-DE" err="1">
                <a:latin typeface="Meta Pro"/>
              </a:rPr>
              <a:t>video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output</a:t>
            </a:r>
            <a:endParaRPr lang="de-DE">
              <a:latin typeface="Meta Pro"/>
            </a:endParaRPr>
          </a:p>
          <a:p>
            <a:pPr marL="467995" lvl="1" indent="-287655"/>
            <a:r>
              <a:rPr lang="de-DE">
                <a:latin typeface="Meta Pro"/>
              </a:rPr>
              <a:t>25 MHz </a:t>
            </a:r>
            <a:r>
              <a:rPr lang="de-DE" err="1">
                <a:latin typeface="Meta Pro"/>
              </a:rPr>
              <a:t>clock</a:t>
            </a:r>
            <a:endParaRPr lang="de-DE">
              <a:latin typeface="Meta Pro"/>
            </a:endParaRPr>
          </a:p>
          <a:p>
            <a:pPr marL="467995" lvl="1" indent="-287655"/>
            <a:endParaRPr lang="de-DE">
              <a:latin typeface="Meta Pro"/>
            </a:endParaRPr>
          </a:p>
        </p:txBody>
      </p:sp>
    </p:spTree>
    <p:extLst>
      <p:ext uri="{BB962C8B-B14F-4D97-AF65-F5344CB8AC3E}">
        <p14:creationId xmlns:p14="http://schemas.microsoft.com/office/powerpoint/2010/main" val="866556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875834-902D-70F3-D582-8850F93F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eta Pro"/>
              </a:rPr>
              <a:t>Prototype - Controller</a:t>
            </a:r>
            <a:endParaRPr lang="de-DE" b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8C87B2-586B-6C84-F44F-F48C32AC71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9C9499F-23B1-8F8B-3CFF-6B54A7A80A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11</a:t>
            </a:fld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78FD685-F73D-7F40-742F-193852A8A68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-285225" y="2100703"/>
            <a:ext cx="5009626" cy="34852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9CA850F-7796-DA6F-0F88-43DE8D63E10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879620" y="1763273"/>
            <a:ext cx="4940904" cy="38226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51147397-6C38-E1F0-3AC2-BF30C48295C7}"/>
              </a:ext>
            </a:extLst>
          </p:cNvPr>
          <p:cNvSpPr txBox="1"/>
          <p:nvPr/>
        </p:nvSpPr>
        <p:spPr>
          <a:xfrm>
            <a:off x="6879620" y="5710862"/>
            <a:ext cx="386539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de-DE" sz="1100"/>
              <a:t>[2]</a:t>
            </a:r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E33E494-4B96-829E-56FE-A243EFF449F5}"/>
              </a:ext>
            </a:extLst>
          </p:cNvPr>
          <p:cNvSpPr txBox="1"/>
          <p:nvPr/>
        </p:nvSpPr>
        <p:spPr>
          <a:xfrm>
            <a:off x="371474" y="5038258"/>
            <a:ext cx="386539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de-DE" sz="1100"/>
              <a:t>[1]</a:t>
            </a:r>
            <a:endParaRPr lang="de-DE"/>
          </a:p>
        </p:txBody>
      </p:sp>
      <p:pic>
        <p:nvPicPr>
          <p:cNvPr id="9" name="Inhaltsplatzhalter 8" descr="Ein Bild, das Elektronik, Schaltung, Elektronisches Bauteil, Elektrisches Bauelement enthält.&#10;&#10;KI-generierte Inhalte können fehlerhaft sein.">
            <a:extLst>
              <a:ext uri="{FF2B5EF4-FFF2-40B4-BE49-F238E27FC236}">
                <a16:creationId xmlns:a16="http://schemas.microsoft.com/office/drawing/2014/main" id="{F0FD95C6-235C-A747-9853-F3193F937A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83032" y="2303043"/>
            <a:ext cx="1381203" cy="2893695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76B61FA-DC69-1F89-B09F-5219F6AC51AA}"/>
              </a:ext>
            </a:extLst>
          </p:cNvPr>
          <p:cNvSpPr txBox="1"/>
          <p:nvPr/>
        </p:nvSpPr>
        <p:spPr>
          <a:xfrm>
            <a:off x="1497503" y="5976417"/>
            <a:ext cx="21509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latin typeface="Meta Pro"/>
                <a:ea typeface="Calibri"/>
                <a:cs typeface="Calibri"/>
              </a:rPr>
              <a:t>3.3 V</a:t>
            </a:r>
            <a:endParaRPr lang="de-DE">
              <a:latin typeface="Meta Pro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D61488A-D594-5D72-2AF7-A5283BECDE84}"/>
              </a:ext>
            </a:extLst>
          </p:cNvPr>
          <p:cNvSpPr txBox="1"/>
          <p:nvPr/>
        </p:nvSpPr>
        <p:spPr>
          <a:xfrm>
            <a:off x="8585020" y="5976416"/>
            <a:ext cx="215096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latin typeface="Meta Pro"/>
                <a:ea typeface="Calibri"/>
                <a:cs typeface="Calibri"/>
              </a:rPr>
              <a:t>5 V</a:t>
            </a:r>
            <a:endParaRPr lang="de-DE">
              <a:latin typeface="Meta Pro"/>
            </a:endParaRPr>
          </a:p>
        </p:txBody>
      </p:sp>
      <p:sp>
        <p:nvSpPr>
          <p:cNvPr id="16" name="Pfeil: nach links und rechts 15">
            <a:extLst>
              <a:ext uri="{FF2B5EF4-FFF2-40B4-BE49-F238E27FC236}">
                <a16:creationId xmlns:a16="http://schemas.microsoft.com/office/drawing/2014/main" id="{675E5A74-E59E-0BC6-4EF0-8CFED34C912B}"/>
              </a:ext>
            </a:extLst>
          </p:cNvPr>
          <p:cNvSpPr/>
          <p:nvPr/>
        </p:nvSpPr>
        <p:spPr>
          <a:xfrm>
            <a:off x="4007095" y="6008724"/>
            <a:ext cx="2777924" cy="2893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D796244-E58C-5711-6698-744EA8CA5BC0}"/>
              </a:ext>
            </a:extLst>
          </p:cNvPr>
          <p:cNvSpPr txBox="1"/>
          <p:nvPr/>
        </p:nvSpPr>
        <p:spPr>
          <a:xfrm>
            <a:off x="4666393" y="1880291"/>
            <a:ext cx="20435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latin typeface="Meta Pro"/>
                <a:ea typeface="Calibri"/>
                <a:cs typeface="Calibri"/>
              </a:rPr>
              <a:t>Level </a:t>
            </a:r>
            <a:r>
              <a:rPr lang="de-DE" err="1">
                <a:latin typeface="Meta Pro"/>
                <a:ea typeface="Calibri"/>
                <a:cs typeface="Calibri"/>
              </a:rPr>
              <a:t>shifter</a:t>
            </a:r>
            <a:endParaRPr lang="de-DE">
              <a:latin typeface="Meta Pro"/>
            </a:endParaRPr>
          </a:p>
        </p:txBody>
      </p:sp>
    </p:spTree>
    <p:extLst>
      <p:ext uri="{BB962C8B-B14F-4D97-AF65-F5344CB8AC3E}">
        <p14:creationId xmlns:p14="http://schemas.microsoft.com/office/powerpoint/2010/main" val="1161350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51CA9-E8FC-CA34-E01F-60960AA3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eta Pro"/>
              </a:rPr>
              <a:t>Prototype - Audio</a:t>
            </a:r>
            <a:endParaRPr lang="en-US" b="0">
              <a:latin typeface="Meta Pro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B2682-F01F-A601-E278-2AB1CEF9ACD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5635E-9211-48CB-CCE4-93690ECB70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12</a:t>
            </a:fld>
            <a:endParaRPr lang="de-DE"/>
          </a:p>
        </p:txBody>
      </p:sp>
      <p:pic>
        <p:nvPicPr>
          <p:cNvPr id="6" name="Inhaltsplatzhalter 5" descr="Ein Bild, das Elektronik, Elektronisches Bauteil, Elektrisches Bauelement, passives Bauelement enthält.&#10;&#10;KI-generierte Inhalte können fehlerhaft sein.">
            <a:extLst>
              <a:ext uri="{FF2B5EF4-FFF2-40B4-BE49-F238E27FC236}">
                <a16:creationId xmlns:a16="http://schemas.microsoft.com/office/drawing/2014/main" id="{3011B96A-C0A9-8907-5634-515F9B8846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2015" y="1790038"/>
            <a:ext cx="3673469" cy="33211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Grafik 6" descr="Ein Bild, das Elektronik, Schaltung, Elektronisches Bauteil, Elektrisches Bauelement enthält.&#10;&#10;KI-generierte Inhalte können fehlerhaft sein.">
            <a:extLst>
              <a:ext uri="{FF2B5EF4-FFF2-40B4-BE49-F238E27FC236}">
                <a16:creationId xmlns:a16="http://schemas.microsoft.com/office/drawing/2014/main" id="{9C036677-E7B1-B56F-4E53-8E806811D09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5311" y="2953643"/>
            <a:ext cx="1751631" cy="15346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Grafik 7" descr="Ein Bild, das Lautsprecher enthält.&#10;&#10;KI-generierte Inhalte können fehlerhaft sein.">
            <a:extLst>
              <a:ext uri="{FF2B5EF4-FFF2-40B4-BE49-F238E27FC236}">
                <a16:creationId xmlns:a16="http://schemas.microsoft.com/office/drawing/2014/main" id="{24A8B24D-A2AC-F2F6-97EC-C212F2F1423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843857">
            <a:off x="8316370" y="2103438"/>
            <a:ext cx="1435024" cy="14304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Grafik 8" descr="Ein Bild, das Lautsprecher enthält.&#10;&#10;KI-generierte Inhalte können fehlerhaft sein.">
            <a:extLst>
              <a:ext uri="{FF2B5EF4-FFF2-40B4-BE49-F238E27FC236}">
                <a16:creationId xmlns:a16="http://schemas.microsoft.com/office/drawing/2014/main" id="{67D86E9F-6EA1-4BE5-984D-C78E44215BA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031434">
            <a:off x="8472852" y="4018678"/>
            <a:ext cx="1435024" cy="14304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71E5343-6096-EB04-F9CB-01F7EB89D313}"/>
              </a:ext>
            </a:extLst>
          </p:cNvPr>
          <p:cNvSpPr txBox="1"/>
          <p:nvPr/>
        </p:nvSpPr>
        <p:spPr>
          <a:xfrm>
            <a:off x="1437409" y="5564909"/>
            <a:ext cx="32211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ea typeface="Calibri"/>
                <a:cs typeface="Calibri"/>
              </a:rPr>
              <a:t>Digital-Analog </a:t>
            </a:r>
            <a:r>
              <a:rPr lang="de-DE" err="1">
                <a:ea typeface="Calibri"/>
                <a:cs typeface="Calibri"/>
              </a:rPr>
              <a:t>converter</a:t>
            </a:r>
            <a:endParaRPr lang="de-DE" err="1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AC55486-0058-833F-F514-E96EA086C3A6}"/>
              </a:ext>
            </a:extLst>
          </p:cNvPr>
          <p:cNvSpPr txBox="1"/>
          <p:nvPr/>
        </p:nvSpPr>
        <p:spPr>
          <a:xfrm>
            <a:off x="5460999" y="5564909"/>
            <a:ext cx="20435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>
                <a:ea typeface="Calibri"/>
                <a:cs typeface="Calibri"/>
              </a:rPr>
              <a:t>Amplifier</a:t>
            </a:r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163C345-AB79-59A2-FD89-FE02B8AEF474}"/>
              </a:ext>
            </a:extLst>
          </p:cNvPr>
          <p:cNvSpPr txBox="1"/>
          <p:nvPr/>
        </p:nvSpPr>
        <p:spPr>
          <a:xfrm>
            <a:off x="8607135" y="5564909"/>
            <a:ext cx="204354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de-DE">
                <a:ea typeface="Calibri"/>
                <a:cs typeface="Calibri"/>
              </a:rPr>
              <a:t>Speakers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8174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E4589-37D0-6490-EE90-323411E3E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eta Pro"/>
              </a:rPr>
              <a:t>Prototype - Case</a:t>
            </a:r>
            <a:endParaRPr lang="en-US" b="0">
              <a:latin typeface="Meta Pro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17055-F10C-8A96-CAFF-3D18EE37D1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C2BF9C-6B05-445D-D640-BB9859C4AE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13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DC799CB-DF2E-7063-55D7-E5DDF1DC42F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32573" y="1727659"/>
            <a:ext cx="4876803" cy="39960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Inhaltsplatzhalter 9" descr="Ein Bild, das Box, Plastik, Im Haus enthält.&#10;&#10;KI-generierte Inhalte können fehlerhaft sein.">
            <a:extLst>
              <a:ext uri="{FF2B5EF4-FFF2-40B4-BE49-F238E27FC236}">
                <a16:creationId xmlns:a16="http://schemas.microsoft.com/office/drawing/2014/main" id="{39E467B4-0284-B4EF-F850-A129976EE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379" y="2138764"/>
            <a:ext cx="5960840" cy="31677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2790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A6B82F-E4C1-D04D-6943-E97A7444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eta Pro"/>
              </a:rPr>
              <a:t>Prototype - "Workstation"</a:t>
            </a:r>
            <a:endParaRPr lang="de-DE" b="0">
              <a:latin typeface="Meta Pro"/>
            </a:endParaRP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22479116-0633-4198-0336-82DDEC0537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0133" y="1341438"/>
            <a:ext cx="6671733" cy="5003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DAC53E7-CA5E-694D-AE79-79ABFF087B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A942248-362C-00D1-D425-9EFB15E640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3025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FF8FD-11F5-9EF2-88E9-A7E5621D7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Meta Pro"/>
              </a:rPr>
              <a:t>Prototype</a:t>
            </a:r>
            <a:endParaRPr lang="en-US" b="0">
              <a:latin typeface="Meta Pro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A5F41A-8BF2-DD60-57D4-655F96958B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9AB35-432A-33E9-D3D9-C31DC5EC4D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15</a:t>
            </a:fld>
            <a:endParaRPr lang="de-DE"/>
          </a:p>
        </p:txBody>
      </p:sp>
      <p:pic>
        <p:nvPicPr>
          <p:cNvPr id="9" name="Inhaltsplatzhalter 8" descr="Ein Bild, das Gamecontroller, Elektronisches Gerät, Joystick, Eingabegerät enthält.&#10;&#10;KI-generierte Inhalte können fehlerhaft sein.">
            <a:extLst>
              <a:ext uri="{FF2B5EF4-FFF2-40B4-BE49-F238E27FC236}">
                <a16:creationId xmlns:a16="http://schemas.microsoft.com/office/drawing/2014/main" id="{36BE7568-388F-A3DD-A7FD-292FF46686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7300" y="1341438"/>
            <a:ext cx="7077400" cy="500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4074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46E90A-7585-378B-6613-E406F2860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EDA Tools &amp; Software</a:t>
            </a:r>
            <a:endParaRPr lang="de-DE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2F0D10-5374-D1C1-2399-1A9B6FEA3E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28E5DB4-B417-1C5C-0CAB-6CDA3AE2FD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16</a:t>
            </a:fld>
            <a:endParaRPr lang="de-DE"/>
          </a:p>
        </p:txBody>
      </p:sp>
      <p:pic>
        <p:nvPicPr>
          <p:cNvPr id="6" name="Grafik 5" descr="Main Brand Logo">
            <a:extLst>
              <a:ext uri="{FF2B5EF4-FFF2-40B4-BE49-F238E27FC236}">
                <a16:creationId xmlns:a16="http://schemas.microsoft.com/office/drawing/2014/main" id="{A71E3570-D9DA-8B73-2AA2-A38FF2E3F6A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7174" y="2325715"/>
            <a:ext cx="2719474" cy="59395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23740C-0BEE-0A77-CADF-FA494E52FCD0}"/>
              </a:ext>
            </a:extLst>
          </p:cNvPr>
          <p:cNvSpPr txBox="1">
            <a:spLocks/>
          </p:cNvSpPr>
          <p:nvPr/>
        </p:nvSpPr>
        <p:spPr>
          <a:xfrm>
            <a:off x="369482" y="1289642"/>
            <a:ext cx="11449050" cy="500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Tx/>
              <a:buNone/>
              <a:defRPr sz="2400" b="1" i="0" kern="1200">
                <a:solidFill>
                  <a:schemeClr val="tx1"/>
                </a:solidFill>
                <a:latin typeface="Meta Pro" panose="02000503040000020004" pitchFamily="2" charset="0"/>
                <a:ea typeface="+mn-ea"/>
                <a:cs typeface="+mn-cs"/>
              </a:defRPr>
            </a:lvl1pPr>
            <a:lvl2pPr marL="468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Helvetica" pitchFamily="2" charset="0"/>
              <a:buChar char="■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2pPr>
            <a:lvl3pPr marL="72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Font typeface="Helvetica" pitchFamily="2" charset="0"/>
              <a:buChar char="■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3pPr>
            <a:lvl4pPr marL="108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Font typeface="Symbol" pitchFamily="2" charset="2"/>
              <a:buChar char="-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4pPr>
            <a:lvl5pPr marL="144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>
                <a:latin typeface="Meta Pro"/>
              </a:rPr>
              <a:t>EDA Tools:</a:t>
            </a:r>
            <a:endParaRPr lang="de-DE" err="1">
              <a:latin typeface="Meta Pro"/>
            </a:endParaRPr>
          </a:p>
          <a:p>
            <a:pPr marL="467995" lvl="1" indent="-287655"/>
            <a:r>
              <a:rPr lang="de-DE">
                <a:latin typeface="Meta Pro"/>
              </a:rPr>
              <a:t>Simulation: Icarus </a:t>
            </a:r>
            <a:r>
              <a:rPr lang="de-DE" err="1">
                <a:latin typeface="Meta Pro"/>
              </a:rPr>
              <a:t>Verilog</a:t>
            </a:r>
            <a:r>
              <a:rPr lang="de-DE">
                <a:latin typeface="Meta Pro"/>
              </a:rPr>
              <a:t>, </a:t>
            </a:r>
            <a:r>
              <a:rPr lang="de-DE" err="1">
                <a:latin typeface="Meta Pro"/>
              </a:rPr>
              <a:t>GTKwave</a:t>
            </a:r>
            <a:r>
              <a:rPr lang="de-DE">
                <a:latin typeface="Meta Pro"/>
              </a:rPr>
              <a:t> and Surfer</a:t>
            </a:r>
          </a:p>
          <a:p>
            <a:pPr marL="467995" lvl="1" indent="-287655"/>
            <a:r>
              <a:rPr lang="de-DE">
                <a:latin typeface="Meta Pro"/>
              </a:rPr>
              <a:t>Synthesis: </a:t>
            </a:r>
            <a:r>
              <a:rPr lang="de-DE" err="1">
                <a:latin typeface="Meta Pro"/>
              </a:rPr>
              <a:t>Yosys</a:t>
            </a:r>
            <a:r>
              <a:rPr lang="de-DE">
                <a:latin typeface="Meta Pro"/>
              </a:rPr>
              <a:t>, </a:t>
            </a:r>
            <a:r>
              <a:rPr lang="de-DE" err="1">
                <a:latin typeface="Meta Pro"/>
              </a:rPr>
              <a:t>nextpnr</a:t>
            </a:r>
            <a:r>
              <a:rPr lang="de-DE">
                <a:latin typeface="Meta Pro"/>
              </a:rPr>
              <a:t>, </a:t>
            </a:r>
            <a:r>
              <a:rPr lang="de-DE" err="1">
                <a:latin typeface="Meta Pro"/>
              </a:rPr>
              <a:t>fujprog</a:t>
            </a:r>
            <a:endParaRPr lang="de-DE">
              <a:latin typeface="Meta Pro"/>
            </a:endParaRPr>
          </a:p>
          <a:p>
            <a:pPr marL="467995" lvl="1" indent="-287655"/>
            <a:r>
              <a:rPr lang="de-DE">
                <a:latin typeface="Meta Pro"/>
              </a:rPr>
              <a:t>All </a:t>
            </a:r>
            <a:r>
              <a:rPr lang="de-DE" err="1">
                <a:latin typeface="Meta Pro"/>
              </a:rPr>
              <a:t>tools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bundled</a:t>
            </a:r>
            <a:r>
              <a:rPr lang="de-DE">
                <a:latin typeface="Meta Pro"/>
              </a:rPr>
              <a:t> in </a:t>
            </a:r>
            <a:r>
              <a:rPr lang="de-DE" err="1">
                <a:latin typeface="Meta Pro"/>
              </a:rPr>
              <a:t>the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oss</a:t>
            </a:r>
            <a:r>
              <a:rPr lang="de-DE">
                <a:latin typeface="Meta Pro"/>
              </a:rPr>
              <a:t>-</a:t>
            </a:r>
            <a:r>
              <a:rPr lang="de-DE" err="1">
                <a:latin typeface="Meta Pro"/>
              </a:rPr>
              <a:t>cad</a:t>
            </a:r>
            <a:r>
              <a:rPr lang="de-DE">
                <a:latin typeface="Meta Pro"/>
              </a:rPr>
              <a:t>-suite [3]</a:t>
            </a:r>
          </a:p>
          <a:p>
            <a:pPr marL="467995" lvl="1" indent="-287655"/>
            <a:r>
              <a:rPr lang="de-DE" err="1">
                <a:latin typeface="Meta Pro"/>
              </a:rPr>
              <a:t>Build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system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with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CMake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for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hardware</a:t>
            </a:r>
            <a:r>
              <a:rPr lang="de-DE">
                <a:latin typeface="Meta Pro"/>
              </a:rPr>
              <a:t> and </a:t>
            </a:r>
            <a:r>
              <a:rPr lang="de-DE" err="1">
                <a:latin typeface="Meta Pro"/>
              </a:rPr>
              <a:t>software</a:t>
            </a:r>
            <a:endParaRPr lang="de-DE">
              <a:latin typeface="Meta Pro"/>
            </a:endParaRPr>
          </a:p>
          <a:p>
            <a:pPr indent="-287655">
              <a:buFontTx/>
              <a:buNone/>
            </a:pPr>
            <a:endParaRPr lang="de-DE" b="0">
              <a:latin typeface="Meta Pro"/>
            </a:endParaRPr>
          </a:p>
          <a:p>
            <a:r>
              <a:rPr lang="de-DE">
                <a:latin typeface="Meta Pro"/>
              </a:rPr>
              <a:t>Software:</a:t>
            </a:r>
            <a:endParaRPr lang="de-DE" b="0">
              <a:latin typeface="Meta Pro"/>
            </a:endParaRPr>
          </a:p>
          <a:p>
            <a:pPr marL="467995" lvl="1" indent="-287655">
              <a:buFont typeface="Helvetica"/>
              <a:buChar char="■"/>
            </a:pPr>
            <a:r>
              <a:rPr lang="de-DE">
                <a:latin typeface="Meta Pro"/>
              </a:rPr>
              <a:t>Support </a:t>
            </a:r>
            <a:r>
              <a:rPr lang="de-DE" err="1">
                <a:latin typeface="Meta Pro"/>
              </a:rPr>
              <a:t>for</a:t>
            </a:r>
            <a:r>
              <a:rPr lang="de-DE">
                <a:latin typeface="Meta Pro"/>
              </a:rPr>
              <a:t> C and C++ </a:t>
            </a:r>
            <a:r>
              <a:rPr lang="de-DE" err="1">
                <a:latin typeface="Meta Pro"/>
              </a:rPr>
              <a:t>with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the</a:t>
            </a:r>
            <a:r>
              <a:rPr lang="de-DE">
                <a:latin typeface="Meta Pro"/>
              </a:rPr>
              <a:t> </a:t>
            </a:r>
            <a:r>
              <a:rPr lang="de-DE" i="1" err="1">
                <a:latin typeface="Meta Pro"/>
              </a:rPr>
              <a:t>newlib</a:t>
            </a:r>
            <a:r>
              <a:rPr lang="de-DE" i="1">
                <a:latin typeface="Meta Pro"/>
              </a:rPr>
              <a:t> </a:t>
            </a:r>
            <a:r>
              <a:rPr lang="de-DE">
                <a:latin typeface="Meta Pro"/>
              </a:rPr>
              <a:t>[4]</a:t>
            </a:r>
            <a:r>
              <a:rPr lang="de-DE" i="1">
                <a:latin typeface="Meta Pro"/>
              </a:rPr>
              <a:t> </a:t>
            </a:r>
            <a:r>
              <a:rPr lang="de-DE" err="1">
                <a:latin typeface="Meta Pro"/>
              </a:rPr>
              <a:t>standard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library</a:t>
            </a:r>
            <a:endParaRPr lang="en-US" err="1">
              <a:latin typeface="Meta Pro"/>
            </a:endParaRPr>
          </a:p>
          <a:p>
            <a:pPr marL="467995" lvl="1" indent="-287655">
              <a:buFont typeface="Helvetica"/>
              <a:buChar char="■"/>
            </a:pPr>
            <a:r>
              <a:rPr lang="de-DE">
                <a:latin typeface="Meta Pro"/>
              </a:rPr>
              <a:t>Virtual prototype </a:t>
            </a:r>
            <a:r>
              <a:rPr lang="de-DE" err="1">
                <a:latin typeface="Meta Pro"/>
              </a:rPr>
              <a:t>for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testing</a:t>
            </a:r>
            <a:r>
              <a:rPr lang="de-DE">
                <a:latin typeface="Meta Pro"/>
              </a:rPr>
              <a:t> and </a:t>
            </a:r>
            <a:r>
              <a:rPr lang="de-DE" err="1">
                <a:latin typeface="Meta Pro"/>
              </a:rPr>
              <a:t>debugging</a:t>
            </a:r>
            <a:endParaRPr lang="en-US" err="1">
              <a:latin typeface="Meta Pro"/>
            </a:endParaRPr>
          </a:p>
          <a:p>
            <a:pPr marL="467995" lvl="1" indent="-287655">
              <a:buFont typeface="Helvetica"/>
              <a:buChar char="■"/>
            </a:pPr>
            <a:r>
              <a:rPr lang="de-DE">
                <a:latin typeface="Meta Pro"/>
              </a:rPr>
              <a:t>Hardware </a:t>
            </a:r>
            <a:r>
              <a:rPr lang="de-DE" err="1">
                <a:latin typeface="Meta Pro"/>
              </a:rPr>
              <a:t>Abstraction</a:t>
            </a:r>
            <a:r>
              <a:rPr lang="de-DE">
                <a:latin typeface="Meta Pro"/>
              </a:rPr>
              <a:t> Library</a:t>
            </a:r>
            <a:endParaRPr lang="en-US">
              <a:latin typeface="Meta Pro"/>
            </a:endParaRPr>
          </a:p>
          <a:p>
            <a:pPr marL="467995" lvl="1" indent="-287655">
              <a:buFont typeface="Helvetica"/>
              <a:buChar char="■"/>
            </a:pPr>
            <a:r>
              <a:rPr lang="de-DE">
                <a:latin typeface="Meta Pro"/>
              </a:rPr>
              <a:t>Software </a:t>
            </a:r>
            <a:r>
              <a:rPr lang="de-DE" err="1">
                <a:latin typeface="Meta Pro"/>
              </a:rPr>
              <a:t>template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that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can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be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used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to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quickly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start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developing</a:t>
            </a:r>
          </a:p>
          <a:p>
            <a:pPr marL="467995" lvl="1" indent="-287655">
              <a:buFont typeface="Helvetica"/>
              <a:buChar char="■"/>
            </a:pPr>
            <a:r>
              <a:rPr lang="de-DE">
                <a:latin typeface="Meta Pro"/>
              </a:rPr>
              <a:t>Bootloader</a:t>
            </a:r>
            <a:endParaRPr lang="de-DE" b="0">
              <a:latin typeface="Meta Pro"/>
            </a:endParaRPr>
          </a:p>
          <a:p>
            <a:pPr indent="-287655"/>
            <a:endParaRPr lang="de-DE" b="0">
              <a:latin typeface="Meta Pro"/>
            </a:endParaRPr>
          </a:p>
          <a:p>
            <a:endParaRPr lang="de-DE" b="0">
              <a:latin typeface="Meta Pro"/>
            </a:endParaRPr>
          </a:p>
          <a:p>
            <a:endParaRPr lang="de-DE">
              <a:latin typeface="Meta Pro"/>
            </a:endParaRPr>
          </a:p>
        </p:txBody>
      </p:sp>
    </p:spTree>
    <p:extLst>
      <p:ext uri="{BB962C8B-B14F-4D97-AF65-F5344CB8AC3E}">
        <p14:creationId xmlns:p14="http://schemas.microsoft.com/office/powerpoint/2010/main" val="845206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0D2F9-DC17-704B-B738-EF75CEB3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Text, Schrift, Darstellung, Design enthält.&#10;&#10;KI-generierte Inhalte können fehlerhaft sein.">
            <a:extLst>
              <a:ext uri="{FF2B5EF4-FFF2-40B4-BE49-F238E27FC236}">
                <a16:creationId xmlns:a16="http://schemas.microsoft.com/office/drawing/2014/main" id="{D39664D5-4159-9296-2BF0-3DD6025A35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60000">
            <a:off x="5232300" y="1485834"/>
            <a:ext cx="3256072" cy="464957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3BFAE51-2558-FB79-C848-0F551967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Game Jam</a:t>
            </a:r>
            <a:endParaRPr lang="de-DE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131431-4EF7-D2D8-0C7E-29703B0D70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327BC95-5202-946E-D129-BAF4D25F3D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17</a:t>
            </a:fld>
            <a:endParaRPr lang="de-DE"/>
          </a:p>
        </p:txBody>
      </p:sp>
      <p:pic>
        <p:nvPicPr>
          <p:cNvPr id="9" name="Inhaltsplatzhalter 8" descr="Ein Bild, das Text, Computer, Elektronik enthält.&#10;&#10;KI-generierte Inhalte können fehlerhaft sein.">
            <a:extLst>
              <a:ext uri="{FF2B5EF4-FFF2-40B4-BE49-F238E27FC236}">
                <a16:creationId xmlns:a16="http://schemas.microsoft.com/office/drawing/2014/main" id="{2A939017-C46E-5884-BCAC-8FA8C0CF82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-360000">
            <a:off x="8428660" y="1294349"/>
            <a:ext cx="3442477" cy="4912543"/>
          </a:xfrm>
          <a:prstGeom prst="rect">
            <a:avLst/>
          </a:prstGeom>
        </p:spPr>
      </p:pic>
      <p:pic>
        <p:nvPicPr>
          <p:cNvPr id="6" name="Grafik 5" descr="Ein Bild, das Person, Kleidung, Mann, Im Haus enthält.&#10;&#10;KI-generierte Inhalte können fehlerhaft sein.">
            <a:extLst>
              <a:ext uri="{FF2B5EF4-FFF2-40B4-BE49-F238E27FC236}">
                <a16:creationId xmlns:a16="http://schemas.microsoft.com/office/drawing/2014/main" id="{325495A0-1AA3-FE3B-D83A-E24B7EDD012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720000">
            <a:off x="6960718" y="865843"/>
            <a:ext cx="4945168" cy="3278606"/>
          </a:xfrm>
          <a:prstGeom prst="rect">
            <a:avLst/>
          </a:prstGeom>
        </p:spPr>
      </p:pic>
      <p:pic>
        <p:nvPicPr>
          <p:cNvPr id="12" name="Grafik 11" descr="Ein Bild, das Person, Im Haus, Computer, Kleidung enthält.&#10;&#10;KI-generierte Inhalte können fehlerhaft sein.">
            <a:extLst>
              <a:ext uri="{FF2B5EF4-FFF2-40B4-BE49-F238E27FC236}">
                <a16:creationId xmlns:a16="http://schemas.microsoft.com/office/drawing/2014/main" id="{51104370-D078-9146-481F-20429670C83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-420000">
            <a:off x="3922260" y="3055215"/>
            <a:ext cx="4610854" cy="3128211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98008FC6-1E37-B16C-ED27-3B8F4FD29176}"/>
              </a:ext>
            </a:extLst>
          </p:cNvPr>
          <p:cNvSpPr txBox="1">
            <a:spLocks/>
          </p:cNvSpPr>
          <p:nvPr/>
        </p:nvSpPr>
        <p:spPr>
          <a:xfrm>
            <a:off x="371475" y="1341438"/>
            <a:ext cx="3281207" cy="50187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Tx/>
              <a:buNone/>
              <a:defRPr sz="2400" b="1" i="0" kern="1200">
                <a:solidFill>
                  <a:schemeClr val="tx1"/>
                </a:solidFill>
                <a:latin typeface="Meta Pro" panose="02000503040000020004" pitchFamily="2" charset="0"/>
                <a:ea typeface="+mn-ea"/>
                <a:cs typeface="+mn-cs"/>
              </a:defRPr>
            </a:lvl1pPr>
            <a:lvl2pPr marL="468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Helvetica" pitchFamily="2" charset="0"/>
              <a:buChar char="■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2pPr>
            <a:lvl3pPr marL="72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Font typeface="Helvetica" pitchFamily="2" charset="0"/>
              <a:buChar char="■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3pPr>
            <a:lvl4pPr marL="108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Font typeface="Symbol" pitchFamily="2" charset="2"/>
              <a:buChar char="-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4pPr>
            <a:lvl5pPr marL="144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7995" lvl="1" indent="-287655"/>
            <a:r>
              <a:rPr lang="de-DE" err="1">
                <a:latin typeface="Meta Pro"/>
              </a:rPr>
              <a:t>One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weekend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spent</a:t>
            </a:r>
            <a:r>
              <a:rPr lang="de-DE">
                <a:latin typeface="Meta Pro"/>
              </a:rPr>
              <a:t> at </a:t>
            </a:r>
            <a:r>
              <a:rPr lang="de-DE" err="1">
                <a:latin typeface="Meta Pro"/>
              </a:rPr>
              <a:t>the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university</a:t>
            </a:r>
            <a:endParaRPr lang="de-DE">
              <a:latin typeface="Meta Pro"/>
            </a:endParaRPr>
          </a:p>
          <a:p>
            <a:pPr marL="467995" lvl="1" indent="-287655"/>
            <a:r>
              <a:rPr lang="de-DE">
                <a:latin typeface="Meta Pro"/>
              </a:rPr>
              <a:t>High </a:t>
            </a:r>
            <a:r>
              <a:rPr lang="de-DE" err="1">
                <a:latin typeface="Meta Pro"/>
              </a:rPr>
              <a:t>interest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especially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of</a:t>
            </a:r>
            <a:r>
              <a:rPr lang="de-DE">
                <a:latin typeface="Meta Pro"/>
              </a:rPr>
              <a:t> Games-Engineering </a:t>
            </a:r>
            <a:r>
              <a:rPr lang="de-DE" err="1">
                <a:latin typeface="Meta Pro"/>
              </a:rPr>
              <a:t>students</a:t>
            </a:r>
            <a:endParaRPr lang="de-DE">
              <a:latin typeface="Meta Pro"/>
            </a:endParaRPr>
          </a:p>
          <a:p>
            <a:pPr marL="467995" lvl="1" indent="-287655"/>
            <a:r>
              <a:rPr lang="de-DE">
                <a:latin typeface="Meta Pro"/>
              </a:rPr>
              <a:t>Low </a:t>
            </a:r>
            <a:r>
              <a:rPr lang="de-DE" err="1">
                <a:latin typeface="Meta Pro"/>
              </a:rPr>
              <a:t>barrier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of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entry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for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any</a:t>
            </a:r>
            <a:r>
              <a:rPr lang="de-DE">
                <a:latin typeface="Meta Pro"/>
              </a:rPr>
              <a:t> game </a:t>
            </a:r>
            <a:r>
              <a:rPr lang="de-DE" err="1">
                <a:latin typeface="Meta Pro"/>
              </a:rPr>
              <a:t>developer</a:t>
            </a:r>
            <a:endParaRPr lang="de-DE">
              <a:latin typeface="Meta Pro"/>
            </a:endParaRPr>
          </a:p>
          <a:p>
            <a:pPr marL="467995" lvl="1" indent="-287655"/>
            <a:endParaRPr lang="de-DE">
              <a:latin typeface="Meta Pro"/>
            </a:endParaRPr>
          </a:p>
        </p:txBody>
      </p:sp>
    </p:spTree>
    <p:extLst>
      <p:ext uri="{BB962C8B-B14F-4D97-AF65-F5344CB8AC3E}">
        <p14:creationId xmlns:p14="http://schemas.microsoft.com/office/powerpoint/2010/main" val="108777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09DB8-A903-4B99-5D48-4EE5EDEBA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16B0E2-97F1-70B3-3F43-6A581F13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Current Games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B2E5FF-3476-3070-7841-092D7A1248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852821-604C-CDB1-E5DC-ACB2875FF4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18</a:t>
            </a:fld>
            <a:endParaRPr lang="de-DE"/>
          </a:p>
        </p:txBody>
      </p:sp>
      <p:pic>
        <p:nvPicPr>
          <p:cNvPr id="16" name="Inhaltsplatzhalter 15" descr="Ein Bild, das Screenshot, Grün, PC-Spiel, Grafiksoftware enthält.&#10;&#10;KI-generierte Inhalte können fehlerhaft sein.">
            <a:extLst>
              <a:ext uri="{FF2B5EF4-FFF2-40B4-BE49-F238E27FC236}">
                <a16:creationId xmlns:a16="http://schemas.microsoft.com/office/drawing/2014/main" id="{B09B7F79-FE69-9A38-F662-A683CF6F7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0060" y="2627424"/>
            <a:ext cx="2007215" cy="1243539"/>
          </a:xfrm>
          <a:prstGeom prst="rect">
            <a:avLst/>
          </a:prstGeom>
          <a:ln w="28575">
            <a:noFill/>
          </a:ln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11BCE543-8658-2695-3C87-B139A3194107}"/>
              </a:ext>
            </a:extLst>
          </p:cNvPr>
          <p:cNvSpPr txBox="1"/>
          <p:nvPr/>
        </p:nvSpPr>
        <p:spPr>
          <a:xfrm>
            <a:off x="4572000" y="1703293"/>
            <a:ext cx="5040156" cy="37253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/>
          </a:p>
        </p:txBody>
      </p:sp>
      <p:pic>
        <p:nvPicPr>
          <p:cNvPr id="18" name="Grafik 17" descr="Ein Bild, das Baum, Cartoon, Pflanze, Darstellung enthält.&#10;&#10;KI-generierte Inhalte können fehlerhaft sein.">
            <a:extLst>
              <a:ext uri="{FF2B5EF4-FFF2-40B4-BE49-F238E27FC236}">
                <a16:creationId xmlns:a16="http://schemas.microsoft.com/office/drawing/2014/main" id="{2E11F9E2-6728-CAC1-DE15-E56D9CE0EAD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6628" y="3989292"/>
            <a:ext cx="2013560" cy="1055388"/>
          </a:xfrm>
          <a:prstGeom prst="rect">
            <a:avLst/>
          </a:prstGeom>
        </p:spPr>
      </p:pic>
      <p:pic>
        <p:nvPicPr>
          <p:cNvPr id="20" name="Grafik 19" descr="Ein Bild, das Screenshot, Darstellung enthält.&#10;&#10;KI-generierte Inhalte können fehlerhaft sein.">
            <a:extLst>
              <a:ext uri="{FF2B5EF4-FFF2-40B4-BE49-F238E27FC236}">
                <a16:creationId xmlns:a16="http://schemas.microsoft.com/office/drawing/2014/main" id="{478245A9-C819-EC3C-B4E1-890D6ED59AB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8993" y="1265280"/>
            <a:ext cx="2009357" cy="1239988"/>
          </a:xfrm>
          <a:prstGeom prst="rect">
            <a:avLst/>
          </a:prstGeom>
        </p:spPr>
      </p:pic>
      <p:pic>
        <p:nvPicPr>
          <p:cNvPr id="22" name="Grafik 21" descr="Ein Bild, das Screenshot, Text, Rechteck, Bilderrahmen enthält.&#10;&#10;KI-generierte Inhalte können fehlerhaft sein.">
            <a:extLst>
              <a:ext uri="{FF2B5EF4-FFF2-40B4-BE49-F238E27FC236}">
                <a16:creationId xmlns:a16="http://schemas.microsoft.com/office/drawing/2014/main" id="{003FE003-92D0-B84B-0258-AA10DDB2926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7666" y="5125348"/>
            <a:ext cx="2015417" cy="125007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7430C758-B429-0F78-A636-DC6CFEB54E59}"/>
              </a:ext>
            </a:extLst>
          </p:cNvPr>
          <p:cNvSpPr txBox="1"/>
          <p:nvPr/>
        </p:nvSpPr>
        <p:spPr>
          <a:xfrm>
            <a:off x="6440499" y="3189613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>
                <a:latin typeface="Meta Pro"/>
                <a:ea typeface="Calibri"/>
                <a:cs typeface="Calibri"/>
              </a:rPr>
              <a:t>Hans Tower Defense</a:t>
            </a:r>
            <a:endParaRPr lang="de-DE">
              <a:latin typeface="Meta Pro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50945E44-E90F-F55B-26A3-B259D0963E57}"/>
              </a:ext>
            </a:extLst>
          </p:cNvPr>
          <p:cNvSpPr txBox="1"/>
          <p:nvPr/>
        </p:nvSpPr>
        <p:spPr>
          <a:xfrm>
            <a:off x="6436958" y="4332612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>
                <a:latin typeface="Meta Pro"/>
                <a:ea typeface="Calibri"/>
                <a:cs typeface="Calibri"/>
              </a:rPr>
              <a:t>Hans The </a:t>
            </a:r>
            <a:r>
              <a:rPr lang="de-DE" err="1">
                <a:latin typeface="Meta Pro"/>
                <a:ea typeface="Calibri"/>
                <a:cs typeface="Calibri"/>
              </a:rPr>
              <a:t>Gatherer</a:t>
            </a:r>
            <a:endParaRPr lang="de-DE">
              <a:latin typeface="Meta Pro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9DD92123-6B6B-7424-1C48-4FA6F581A695}"/>
              </a:ext>
            </a:extLst>
          </p:cNvPr>
          <p:cNvSpPr txBox="1"/>
          <p:nvPr/>
        </p:nvSpPr>
        <p:spPr>
          <a:xfrm>
            <a:off x="6440497" y="1698837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 err="1">
                <a:latin typeface="Meta Pro"/>
                <a:ea typeface="Calibri"/>
                <a:cs typeface="Calibri"/>
              </a:rPr>
              <a:t>Cow</a:t>
            </a:r>
            <a:r>
              <a:rPr lang="de-DE">
                <a:latin typeface="Meta Pro"/>
                <a:ea typeface="Calibri"/>
                <a:cs typeface="Calibri"/>
              </a:rPr>
              <a:t> Shooter</a:t>
            </a:r>
            <a:endParaRPr lang="de-DE">
              <a:latin typeface="Meta Pro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1727061-4541-51D9-7EDB-3B603351C17A}"/>
              </a:ext>
            </a:extLst>
          </p:cNvPr>
          <p:cNvSpPr txBox="1"/>
          <p:nvPr/>
        </p:nvSpPr>
        <p:spPr>
          <a:xfrm>
            <a:off x="6436959" y="5565849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>
                <a:latin typeface="Meta Pro"/>
                <a:ea typeface="Calibri"/>
                <a:cs typeface="Calibri"/>
              </a:rPr>
              <a:t>Hans Tennis</a:t>
            </a:r>
            <a:endParaRPr lang="de-DE">
              <a:latin typeface="Meta Pro"/>
            </a:endParaRPr>
          </a:p>
        </p:txBody>
      </p:sp>
    </p:spTree>
    <p:extLst>
      <p:ext uri="{BB962C8B-B14F-4D97-AF65-F5344CB8AC3E}">
        <p14:creationId xmlns:p14="http://schemas.microsoft.com/office/powerpoint/2010/main" val="929621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9CF9B-984F-7121-AD92-AC9FF68F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2290FC-BD88-488B-E624-484F2DD5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Current Games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E68380-2ADB-97D5-F1D7-FD3F751FCF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234C5D-5B0D-F525-70A9-62051E689A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19</a:t>
            </a:fld>
            <a:endParaRPr lang="de-DE"/>
          </a:p>
        </p:txBody>
      </p:sp>
      <p:pic>
        <p:nvPicPr>
          <p:cNvPr id="16" name="Inhaltsplatzhalter 15" descr="Ein Bild, das Screenshot, Grün, PC-Spiel, Grafiksoftware enthält.&#10;&#10;KI-generierte Inhalte können fehlerhaft sein.">
            <a:extLst>
              <a:ext uri="{FF2B5EF4-FFF2-40B4-BE49-F238E27FC236}">
                <a16:creationId xmlns:a16="http://schemas.microsoft.com/office/drawing/2014/main" id="{FDA8953C-DF01-A555-E8E5-D4BB6EA714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0060" y="2627424"/>
            <a:ext cx="2007215" cy="1243539"/>
          </a:xfrm>
          <a:prstGeom prst="rect">
            <a:avLst/>
          </a:prstGeom>
          <a:ln w="28575">
            <a:noFill/>
          </a:ln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EE995A88-E133-1791-FB2E-AA0BA39C60A0}"/>
              </a:ext>
            </a:extLst>
          </p:cNvPr>
          <p:cNvSpPr txBox="1"/>
          <p:nvPr/>
        </p:nvSpPr>
        <p:spPr>
          <a:xfrm>
            <a:off x="4572000" y="1703293"/>
            <a:ext cx="5040156" cy="37253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/>
          </a:p>
        </p:txBody>
      </p:sp>
      <p:pic>
        <p:nvPicPr>
          <p:cNvPr id="18" name="Grafik 17" descr="Ein Bild, das Baum, Cartoon, Pflanze, Darstellung enthält.&#10;&#10;KI-generierte Inhalte können fehlerhaft sein.">
            <a:extLst>
              <a:ext uri="{FF2B5EF4-FFF2-40B4-BE49-F238E27FC236}">
                <a16:creationId xmlns:a16="http://schemas.microsoft.com/office/drawing/2014/main" id="{DEAE92A9-833C-B6DF-563E-0C74C7C1C5D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6628" y="3989292"/>
            <a:ext cx="2013560" cy="1055388"/>
          </a:xfrm>
          <a:prstGeom prst="rect">
            <a:avLst/>
          </a:prstGeom>
        </p:spPr>
      </p:pic>
      <p:pic>
        <p:nvPicPr>
          <p:cNvPr id="20" name="Grafik 19" descr="Ein Bild, das Screenshot, Darstellung enthält.&#10;&#10;KI-generierte Inhalte können fehlerhaft sein.">
            <a:extLst>
              <a:ext uri="{FF2B5EF4-FFF2-40B4-BE49-F238E27FC236}">
                <a16:creationId xmlns:a16="http://schemas.microsoft.com/office/drawing/2014/main" id="{D1ED4C19-AE05-E4A1-7D0B-80B2AB90372D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8993" y="1265280"/>
            <a:ext cx="2009357" cy="1239988"/>
          </a:xfrm>
          <a:prstGeom prst="rect">
            <a:avLst/>
          </a:prstGeom>
          <a:ln w="57150">
            <a:solidFill>
              <a:srgbClr val="4472C4"/>
            </a:solidFill>
          </a:ln>
        </p:spPr>
      </p:pic>
      <p:pic>
        <p:nvPicPr>
          <p:cNvPr id="22" name="Grafik 21" descr="Ein Bild, das Screenshot, Text, Rechteck, Bilderrahmen enthält.&#10;&#10;KI-generierte Inhalte können fehlerhaft sein.">
            <a:extLst>
              <a:ext uri="{FF2B5EF4-FFF2-40B4-BE49-F238E27FC236}">
                <a16:creationId xmlns:a16="http://schemas.microsoft.com/office/drawing/2014/main" id="{ACCC4332-A28A-42CB-E095-D9AF2CE13E22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7666" y="5125348"/>
            <a:ext cx="2015417" cy="125007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EEECB993-6CA9-A6E5-C6CB-E67456B1C67C}"/>
              </a:ext>
            </a:extLst>
          </p:cNvPr>
          <p:cNvSpPr txBox="1"/>
          <p:nvPr/>
        </p:nvSpPr>
        <p:spPr>
          <a:xfrm>
            <a:off x="6440499" y="3189613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>
                <a:latin typeface="Meta Pro"/>
                <a:ea typeface="Calibri"/>
                <a:cs typeface="Calibri"/>
              </a:rPr>
              <a:t>Hans Tower Defense</a:t>
            </a:r>
            <a:endParaRPr lang="de-DE">
              <a:latin typeface="Meta Pro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8C16BA6-436F-F4E5-37BB-09116387A6A0}"/>
              </a:ext>
            </a:extLst>
          </p:cNvPr>
          <p:cNvSpPr txBox="1"/>
          <p:nvPr/>
        </p:nvSpPr>
        <p:spPr>
          <a:xfrm>
            <a:off x="6436958" y="4332612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>
                <a:latin typeface="Meta Pro"/>
                <a:ea typeface="Calibri"/>
                <a:cs typeface="Calibri"/>
              </a:rPr>
              <a:t>Hans The </a:t>
            </a:r>
            <a:r>
              <a:rPr lang="de-DE" err="1">
                <a:latin typeface="Meta Pro"/>
                <a:ea typeface="Calibri"/>
                <a:cs typeface="Calibri"/>
              </a:rPr>
              <a:t>Gatherer</a:t>
            </a:r>
            <a:endParaRPr lang="de-DE">
              <a:latin typeface="Meta Pro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68368A3-66A0-0A79-685F-A473C4D33960}"/>
              </a:ext>
            </a:extLst>
          </p:cNvPr>
          <p:cNvSpPr txBox="1"/>
          <p:nvPr/>
        </p:nvSpPr>
        <p:spPr>
          <a:xfrm>
            <a:off x="6440497" y="1698837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 b="1" err="1">
                <a:latin typeface="Meta Pro"/>
                <a:ea typeface="Calibri"/>
                <a:cs typeface="Calibri"/>
              </a:rPr>
              <a:t>Cow</a:t>
            </a:r>
            <a:r>
              <a:rPr lang="de-DE" b="1">
                <a:latin typeface="Meta Pro"/>
                <a:ea typeface="Calibri"/>
                <a:cs typeface="Calibri"/>
              </a:rPr>
              <a:t> Shooter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D917EBA-06BF-5C38-7DDD-FA8067389884}"/>
              </a:ext>
            </a:extLst>
          </p:cNvPr>
          <p:cNvSpPr txBox="1"/>
          <p:nvPr/>
        </p:nvSpPr>
        <p:spPr>
          <a:xfrm>
            <a:off x="6436959" y="5565849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>
                <a:latin typeface="Meta Pro"/>
                <a:ea typeface="Calibri"/>
                <a:cs typeface="Calibri"/>
              </a:rPr>
              <a:t>Hans Tennis</a:t>
            </a:r>
            <a:endParaRPr lang="de-DE">
              <a:latin typeface="Meta Pro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AFFB47E-63B2-0333-1745-40584D3EF1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974" y="1995237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707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D15B7-CC93-FE24-40D7-3F9CF2D9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910819-BACF-98F7-681B-9E8D9EDC9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Current Games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B3239B-789C-6B76-9C9A-341333EA5A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55E098-300F-5BA6-1FCC-174429A9B9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20</a:t>
            </a:fld>
            <a:endParaRPr lang="de-DE"/>
          </a:p>
        </p:txBody>
      </p:sp>
      <p:pic>
        <p:nvPicPr>
          <p:cNvPr id="16" name="Inhaltsplatzhalter 15" descr="Ein Bild, das Screenshot, Grün, PC-Spiel, Grafiksoftware enthält.&#10;&#10;KI-generierte Inhalte können fehlerhaft sein.">
            <a:extLst>
              <a:ext uri="{FF2B5EF4-FFF2-40B4-BE49-F238E27FC236}">
                <a16:creationId xmlns:a16="http://schemas.microsoft.com/office/drawing/2014/main" id="{EC3E92B7-D68A-BB79-FE49-2E4A086DC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0060" y="2627424"/>
            <a:ext cx="2007215" cy="1243539"/>
          </a:xfrm>
          <a:prstGeom prst="rect">
            <a:avLst/>
          </a:prstGeom>
          <a:ln w="57150">
            <a:solidFill>
              <a:srgbClr val="4472C4"/>
            </a:solidFill>
          </a:ln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D18642D7-6ABE-CCD2-9B46-202DF79AB4F9}"/>
              </a:ext>
            </a:extLst>
          </p:cNvPr>
          <p:cNvSpPr txBox="1"/>
          <p:nvPr/>
        </p:nvSpPr>
        <p:spPr>
          <a:xfrm>
            <a:off x="4572000" y="1703293"/>
            <a:ext cx="5040156" cy="37253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/>
          </a:p>
        </p:txBody>
      </p:sp>
      <p:pic>
        <p:nvPicPr>
          <p:cNvPr id="18" name="Grafik 17" descr="Ein Bild, das Baum, Cartoon, Pflanze, Darstellung enthält.&#10;&#10;KI-generierte Inhalte können fehlerhaft sein.">
            <a:extLst>
              <a:ext uri="{FF2B5EF4-FFF2-40B4-BE49-F238E27FC236}">
                <a16:creationId xmlns:a16="http://schemas.microsoft.com/office/drawing/2014/main" id="{FACFE3DB-25DD-81FE-C23B-2A3397322B0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6628" y="3989292"/>
            <a:ext cx="2013560" cy="1055388"/>
          </a:xfrm>
          <a:prstGeom prst="rect">
            <a:avLst/>
          </a:prstGeom>
        </p:spPr>
      </p:pic>
      <p:pic>
        <p:nvPicPr>
          <p:cNvPr id="20" name="Grafik 19" descr="Ein Bild, das Screenshot, Darstellung enthält.&#10;&#10;KI-generierte Inhalte können fehlerhaft sein.">
            <a:extLst>
              <a:ext uri="{FF2B5EF4-FFF2-40B4-BE49-F238E27FC236}">
                <a16:creationId xmlns:a16="http://schemas.microsoft.com/office/drawing/2014/main" id="{20E8B663-7FA5-4F33-D88A-8100DDA831D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8993" y="1265280"/>
            <a:ext cx="2009357" cy="1239988"/>
          </a:xfrm>
          <a:prstGeom prst="rect">
            <a:avLst/>
          </a:prstGeom>
        </p:spPr>
      </p:pic>
      <p:pic>
        <p:nvPicPr>
          <p:cNvPr id="22" name="Grafik 21" descr="Ein Bild, das Screenshot, Text, Rechteck, Bilderrahmen enthält.&#10;&#10;KI-generierte Inhalte können fehlerhaft sein.">
            <a:extLst>
              <a:ext uri="{FF2B5EF4-FFF2-40B4-BE49-F238E27FC236}">
                <a16:creationId xmlns:a16="http://schemas.microsoft.com/office/drawing/2014/main" id="{77F97A88-27C8-AB36-7970-E1303B0776F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7666" y="5125348"/>
            <a:ext cx="2015417" cy="125007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9F6538AE-2CE3-D59C-10D0-FC78EEF5055D}"/>
              </a:ext>
            </a:extLst>
          </p:cNvPr>
          <p:cNvSpPr txBox="1"/>
          <p:nvPr/>
        </p:nvSpPr>
        <p:spPr>
          <a:xfrm>
            <a:off x="6440499" y="3189613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 b="1">
                <a:latin typeface="Meta Pro"/>
                <a:ea typeface="Calibri"/>
                <a:cs typeface="Calibri"/>
              </a:rPr>
              <a:t>Hans Tower Defense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9B26A572-22D9-C900-505F-44BD8130719D}"/>
              </a:ext>
            </a:extLst>
          </p:cNvPr>
          <p:cNvSpPr txBox="1"/>
          <p:nvPr/>
        </p:nvSpPr>
        <p:spPr>
          <a:xfrm>
            <a:off x="6436958" y="4332612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>
                <a:latin typeface="Meta Pro"/>
                <a:ea typeface="Calibri"/>
                <a:cs typeface="Calibri"/>
              </a:rPr>
              <a:t>Hans The </a:t>
            </a:r>
            <a:r>
              <a:rPr lang="de-DE" err="1">
                <a:latin typeface="Meta Pro"/>
                <a:ea typeface="Calibri"/>
                <a:cs typeface="Calibri"/>
              </a:rPr>
              <a:t>Gatherer</a:t>
            </a:r>
            <a:endParaRPr lang="de-DE">
              <a:latin typeface="Meta Pro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28BFA5AD-0240-0993-6474-FD598283A7C2}"/>
              </a:ext>
            </a:extLst>
          </p:cNvPr>
          <p:cNvSpPr txBox="1"/>
          <p:nvPr/>
        </p:nvSpPr>
        <p:spPr>
          <a:xfrm>
            <a:off x="6440497" y="1698837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 err="1">
                <a:latin typeface="Meta Pro"/>
                <a:ea typeface="Calibri"/>
                <a:cs typeface="Calibri"/>
              </a:rPr>
              <a:t>Cow</a:t>
            </a:r>
            <a:r>
              <a:rPr lang="de-DE">
                <a:latin typeface="Meta Pro"/>
                <a:ea typeface="Calibri"/>
                <a:cs typeface="Calibri"/>
              </a:rPr>
              <a:t> Shooter</a:t>
            </a:r>
            <a:endParaRPr lang="de-DE">
              <a:latin typeface="Meta Pro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D1A3A71-930F-1B1C-C8B4-B6CEDDDA8615}"/>
              </a:ext>
            </a:extLst>
          </p:cNvPr>
          <p:cNvSpPr txBox="1"/>
          <p:nvPr/>
        </p:nvSpPr>
        <p:spPr>
          <a:xfrm>
            <a:off x="6436959" y="5565849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>
                <a:latin typeface="Meta Pro"/>
                <a:ea typeface="Calibri"/>
                <a:cs typeface="Calibri"/>
              </a:rPr>
              <a:t>Hans Tennis</a:t>
            </a:r>
            <a:endParaRPr lang="de-DE">
              <a:latin typeface="Meta Pro"/>
            </a:endParaRPr>
          </a:p>
        </p:txBody>
      </p:sp>
      <p:pic>
        <p:nvPicPr>
          <p:cNvPr id="6" name="Grafik 5" descr="Ein Bild, das Screenshot, Grafiksoftware enthält.&#10;&#10;KI-generierte Inhalte können fehlerhaft sein.">
            <a:extLst>
              <a:ext uri="{FF2B5EF4-FFF2-40B4-BE49-F238E27FC236}">
                <a16:creationId xmlns:a16="http://schemas.microsoft.com/office/drawing/2014/main" id="{CA88C629-64D2-EDDE-4639-6B5D0A3B02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811" y="2002047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30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2933C-16F4-44EB-1E81-48D2C0407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BC7E9C-FCA6-A408-C915-4DA501B1B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Current Games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DEC999-F78F-22A0-BB49-03A50D5BCF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E0C1E0-7354-E950-1E58-5F488B27B5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21</a:t>
            </a:fld>
            <a:endParaRPr lang="de-DE"/>
          </a:p>
        </p:txBody>
      </p:sp>
      <p:pic>
        <p:nvPicPr>
          <p:cNvPr id="16" name="Inhaltsplatzhalter 15" descr="Ein Bild, das Screenshot, Grün, PC-Spiel, Grafiksoftware enthält.&#10;&#10;KI-generierte Inhalte können fehlerhaft sein.">
            <a:extLst>
              <a:ext uri="{FF2B5EF4-FFF2-40B4-BE49-F238E27FC236}">
                <a16:creationId xmlns:a16="http://schemas.microsoft.com/office/drawing/2014/main" id="{7DB923ED-4908-9537-85C0-91276219B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0060" y="2627424"/>
            <a:ext cx="2007215" cy="1243539"/>
          </a:xfrm>
          <a:prstGeom prst="rect">
            <a:avLst/>
          </a:prstGeom>
          <a:ln w="28575">
            <a:noFill/>
          </a:ln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E2E25A2F-78D6-CA09-58C7-6F427E7D0FC1}"/>
              </a:ext>
            </a:extLst>
          </p:cNvPr>
          <p:cNvSpPr txBox="1"/>
          <p:nvPr/>
        </p:nvSpPr>
        <p:spPr>
          <a:xfrm>
            <a:off x="4572000" y="1703293"/>
            <a:ext cx="5040156" cy="37253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/>
          </a:p>
        </p:txBody>
      </p:sp>
      <p:pic>
        <p:nvPicPr>
          <p:cNvPr id="18" name="Grafik 17" descr="Ein Bild, das Baum, Cartoon, Pflanze, Darstellung enthält.&#10;&#10;KI-generierte Inhalte können fehlerhaft sein.">
            <a:extLst>
              <a:ext uri="{FF2B5EF4-FFF2-40B4-BE49-F238E27FC236}">
                <a16:creationId xmlns:a16="http://schemas.microsoft.com/office/drawing/2014/main" id="{1B3E8A69-1408-AFB7-08B7-729C09FDD42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6628" y="3989292"/>
            <a:ext cx="2013560" cy="1055388"/>
          </a:xfrm>
          <a:prstGeom prst="rect">
            <a:avLst/>
          </a:prstGeom>
          <a:ln w="57150">
            <a:solidFill>
              <a:srgbClr val="4472C4"/>
            </a:solidFill>
          </a:ln>
        </p:spPr>
      </p:pic>
      <p:pic>
        <p:nvPicPr>
          <p:cNvPr id="20" name="Grafik 19" descr="Ein Bild, das Screenshot, Darstellung enthält.&#10;&#10;KI-generierte Inhalte können fehlerhaft sein.">
            <a:extLst>
              <a:ext uri="{FF2B5EF4-FFF2-40B4-BE49-F238E27FC236}">
                <a16:creationId xmlns:a16="http://schemas.microsoft.com/office/drawing/2014/main" id="{47566E4D-B5B4-5AF4-BDA7-1E2747113BD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8993" y="1265280"/>
            <a:ext cx="2009357" cy="1239988"/>
          </a:xfrm>
          <a:prstGeom prst="rect">
            <a:avLst/>
          </a:prstGeom>
        </p:spPr>
      </p:pic>
      <p:pic>
        <p:nvPicPr>
          <p:cNvPr id="22" name="Grafik 21" descr="Ein Bild, das Screenshot, Text, Rechteck, Bilderrahmen enthält.&#10;&#10;KI-generierte Inhalte können fehlerhaft sein.">
            <a:extLst>
              <a:ext uri="{FF2B5EF4-FFF2-40B4-BE49-F238E27FC236}">
                <a16:creationId xmlns:a16="http://schemas.microsoft.com/office/drawing/2014/main" id="{3329D159-E81F-566E-8F5F-07B794B2A92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7666" y="5125348"/>
            <a:ext cx="2015417" cy="1250078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A8E66130-C983-2331-F386-160EF4C87AD1}"/>
              </a:ext>
            </a:extLst>
          </p:cNvPr>
          <p:cNvSpPr txBox="1"/>
          <p:nvPr/>
        </p:nvSpPr>
        <p:spPr>
          <a:xfrm>
            <a:off x="6440499" y="3189613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>
                <a:latin typeface="Meta Pro"/>
                <a:ea typeface="Calibri"/>
                <a:cs typeface="Calibri"/>
              </a:rPr>
              <a:t>Hans Tower Defense</a:t>
            </a:r>
            <a:endParaRPr lang="de-DE">
              <a:latin typeface="Meta Pro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935CDFC-54F9-DD95-B912-2A833DC37A76}"/>
              </a:ext>
            </a:extLst>
          </p:cNvPr>
          <p:cNvSpPr txBox="1"/>
          <p:nvPr/>
        </p:nvSpPr>
        <p:spPr>
          <a:xfrm>
            <a:off x="6436958" y="4332612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 b="1">
                <a:latin typeface="Meta Pro"/>
                <a:ea typeface="Calibri"/>
                <a:cs typeface="Calibri"/>
              </a:rPr>
              <a:t>Hans The </a:t>
            </a:r>
            <a:r>
              <a:rPr lang="de-DE" b="1" err="1">
                <a:latin typeface="Meta Pro"/>
                <a:ea typeface="Calibri"/>
                <a:cs typeface="Calibri"/>
              </a:rPr>
              <a:t>Gatherer</a:t>
            </a:r>
            <a:endParaRPr lang="de-DE" b="1">
              <a:latin typeface="Meta Pro"/>
              <a:ea typeface="Calibri"/>
              <a:cs typeface="Calibri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B20EF24-FBCE-25EA-785F-7FC501EBDACD}"/>
              </a:ext>
            </a:extLst>
          </p:cNvPr>
          <p:cNvSpPr txBox="1"/>
          <p:nvPr/>
        </p:nvSpPr>
        <p:spPr>
          <a:xfrm>
            <a:off x="6440497" y="1698837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 err="1">
                <a:latin typeface="Meta Pro"/>
                <a:ea typeface="Calibri"/>
                <a:cs typeface="Calibri"/>
              </a:rPr>
              <a:t>Cow</a:t>
            </a:r>
            <a:r>
              <a:rPr lang="de-DE">
                <a:latin typeface="Meta Pro"/>
                <a:ea typeface="Calibri"/>
                <a:cs typeface="Calibri"/>
              </a:rPr>
              <a:t> Shooter</a:t>
            </a:r>
            <a:endParaRPr lang="de-DE">
              <a:latin typeface="Meta Pro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22D1F04-3E01-01C2-2FCD-C3F5046BC462}"/>
              </a:ext>
            </a:extLst>
          </p:cNvPr>
          <p:cNvSpPr txBox="1"/>
          <p:nvPr/>
        </p:nvSpPr>
        <p:spPr>
          <a:xfrm>
            <a:off x="6436959" y="5565849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>
                <a:latin typeface="Meta Pro"/>
                <a:ea typeface="Calibri"/>
                <a:cs typeface="Calibri"/>
              </a:rPr>
              <a:t>Hans Tennis</a:t>
            </a:r>
            <a:endParaRPr lang="de-DE">
              <a:latin typeface="Meta Pro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A7D0176-2866-5CC8-615C-2958E37A8E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974" y="1995237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89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52FB8-95EA-5E5B-91EB-F8483F080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8AC558-FAE2-665D-1B02-A29CC0A2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Current Games</a:t>
            </a:r>
            <a:endParaRPr lang="de-DE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517B019-5C27-5624-480B-09B0E38A6B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AA9093-A0E8-7E66-061C-B568CDBA9C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22</a:t>
            </a:fld>
            <a:endParaRPr lang="de-DE"/>
          </a:p>
        </p:txBody>
      </p:sp>
      <p:pic>
        <p:nvPicPr>
          <p:cNvPr id="16" name="Inhaltsplatzhalter 15" descr="Ein Bild, das Screenshot, Grün, PC-Spiel, Grafiksoftware enthält.&#10;&#10;KI-generierte Inhalte können fehlerhaft sein.">
            <a:extLst>
              <a:ext uri="{FF2B5EF4-FFF2-40B4-BE49-F238E27FC236}">
                <a16:creationId xmlns:a16="http://schemas.microsoft.com/office/drawing/2014/main" id="{977B1D25-073B-C4FE-7BD5-BE88A86154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20060" y="2627424"/>
            <a:ext cx="2007215" cy="1243539"/>
          </a:xfrm>
          <a:prstGeom prst="rect">
            <a:avLst/>
          </a:prstGeom>
          <a:ln w="28575">
            <a:noFill/>
          </a:ln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F4FC6408-03A8-B33A-9839-69049124BB17}"/>
              </a:ext>
            </a:extLst>
          </p:cNvPr>
          <p:cNvSpPr txBox="1"/>
          <p:nvPr/>
        </p:nvSpPr>
        <p:spPr>
          <a:xfrm>
            <a:off x="4572000" y="1703293"/>
            <a:ext cx="5040156" cy="37253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de-DE"/>
          </a:p>
        </p:txBody>
      </p:sp>
      <p:pic>
        <p:nvPicPr>
          <p:cNvPr id="18" name="Grafik 17" descr="Ein Bild, das Baum, Cartoon, Pflanze, Darstellung enthält.&#10;&#10;KI-generierte Inhalte können fehlerhaft sein.">
            <a:extLst>
              <a:ext uri="{FF2B5EF4-FFF2-40B4-BE49-F238E27FC236}">
                <a16:creationId xmlns:a16="http://schemas.microsoft.com/office/drawing/2014/main" id="{4DC3F5F3-E047-D5D5-B6A8-376A3FBD410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6628" y="3989292"/>
            <a:ext cx="2013560" cy="1055388"/>
          </a:xfrm>
          <a:prstGeom prst="rect">
            <a:avLst/>
          </a:prstGeom>
        </p:spPr>
      </p:pic>
      <p:pic>
        <p:nvPicPr>
          <p:cNvPr id="20" name="Grafik 19" descr="Ein Bild, das Screenshot, Darstellung enthält.&#10;&#10;KI-generierte Inhalte können fehlerhaft sein.">
            <a:extLst>
              <a:ext uri="{FF2B5EF4-FFF2-40B4-BE49-F238E27FC236}">
                <a16:creationId xmlns:a16="http://schemas.microsoft.com/office/drawing/2014/main" id="{0C65F6F5-0CD3-B046-E328-A446332ECF6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8993" y="1265280"/>
            <a:ext cx="2009357" cy="1239988"/>
          </a:xfrm>
          <a:prstGeom prst="rect">
            <a:avLst/>
          </a:prstGeom>
        </p:spPr>
      </p:pic>
      <p:pic>
        <p:nvPicPr>
          <p:cNvPr id="22" name="Grafik 21" descr="Ein Bild, das Screenshot, Text, Rechteck, Bilderrahmen enthält.&#10;&#10;KI-generierte Inhalte können fehlerhaft sein.">
            <a:extLst>
              <a:ext uri="{FF2B5EF4-FFF2-40B4-BE49-F238E27FC236}">
                <a16:creationId xmlns:a16="http://schemas.microsoft.com/office/drawing/2014/main" id="{5CC86F34-D430-8AD3-D3E8-D3715A1FD38A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7666" y="5125348"/>
            <a:ext cx="2015417" cy="1250078"/>
          </a:xfrm>
          <a:prstGeom prst="rect">
            <a:avLst/>
          </a:prstGeom>
          <a:ln w="57150">
            <a:solidFill>
              <a:srgbClr val="4472C4"/>
            </a:solidFill>
          </a:ln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82432D54-3E30-5429-8BAA-4A37F72351AA}"/>
              </a:ext>
            </a:extLst>
          </p:cNvPr>
          <p:cNvSpPr txBox="1"/>
          <p:nvPr/>
        </p:nvSpPr>
        <p:spPr>
          <a:xfrm>
            <a:off x="6440499" y="3189613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>
                <a:latin typeface="Meta Pro"/>
                <a:ea typeface="Calibri"/>
                <a:cs typeface="Calibri"/>
              </a:rPr>
              <a:t>Hans Tower Defense</a:t>
            </a:r>
            <a:endParaRPr lang="de-DE">
              <a:latin typeface="Meta Pro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4BFA644-26C2-D93F-9267-ED44314C3E27}"/>
              </a:ext>
            </a:extLst>
          </p:cNvPr>
          <p:cNvSpPr txBox="1"/>
          <p:nvPr/>
        </p:nvSpPr>
        <p:spPr>
          <a:xfrm>
            <a:off x="6436958" y="4332612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>
                <a:latin typeface="Meta Pro"/>
                <a:ea typeface="Calibri"/>
                <a:cs typeface="Calibri"/>
              </a:rPr>
              <a:t>Hans The </a:t>
            </a:r>
            <a:r>
              <a:rPr lang="de-DE" err="1">
                <a:latin typeface="Meta Pro"/>
                <a:ea typeface="Calibri"/>
                <a:cs typeface="Calibri"/>
              </a:rPr>
              <a:t>Gatherer</a:t>
            </a:r>
            <a:endParaRPr lang="de-DE">
              <a:latin typeface="Meta Pro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B645D38E-94A3-2A2A-F55D-F81C6ABDAFF1}"/>
              </a:ext>
            </a:extLst>
          </p:cNvPr>
          <p:cNvSpPr txBox="1"/>
          <p:nvPr/>
        </p:nvSpPr>
        <p:spPr>
          <a:xfrm>
            <a:off x="6440497" y="1698837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 err="1">
                <a:latin typeface="Meta Pro"/>
                <a:ea typeface="Calibri"/>
                <a:cs typeface="Calibri"/>
              </a:rPr>
              <a:t>Cow</a:t>
            </a:r>
            <a:r>
              <a:rPr lang="de-DE">
                <a:latin typeface="Meta Pro"/>
                <a:ea typeface="Calibri"/>
                <a:cs typeface="Calibri"/>
              </a:rPr>
              <a:t> Shooter</a:t>
            </a:r>
            <a:endParaRPr lang="de-DE">
              <a:latin typeface="Meta Pro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2B30E62-C03F-B7CD-552F-DF8B270DFB9E}"/>
              </a:ext>
            </a:extLst>
          </p:cNvPr>
          <p:cNvSpPr txBox="1"/>
          <p:nvPr/>
        </p:nvSpPr>
        <p:spPr>
          <a:xfrm>
            <a:off x="6436959" y="5565849"/>
            <a:ext cx="34763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e-DE" b="1">
                <a:latin typeface="Meta Pro"/>
                <a:ea typeface="Calibri"/>
                <a:cs typeface="Calibri"/>
              </a:rPr>
              <a:t>Hans Tennis</a:t>
            </a:r>
          </a:p>
        </p:txBody>
      </p:sp>
      <p:pic>
        <p:nvPicPr>
          <p:cNvPr id="6" name="Grafik 5" descr="Ein Bild, das Screenshot, Rechteck, Bilderrahmen enthält.&#10;&#10;KI-generierte Inhalte können fehlerhaft sein.">
            <a:extLst>
              <a:ext uri="{FF2B5EF4-FFF2-40B4-BE49-F238E27FC236}">
                <a16:creationId xmlns:a16="http://schemas.microsoft.com/office/drawing/2014/main" id="{1FC5149F-9319-2414-864C-EB33ED6B12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974" y="1995237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419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55551B-EAD0-AA1F-D322-EFD6E285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Next </a:t>
            </a:r>
            <a:r>
              <a:rPr lang="de-DE" err="1">
                <a:latin typeface="Meta Pro"/>
              </a:rPr>
              <a:t>Steps</a:t>
            </a:r>
            <a:endParaRPr lang="de-DE" err="1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60330F-F7DC-64E9-4E22-1557DC73D8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2ECDD9-5E7D-1B2E-237D-C80B69856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23</a:t>
            </a:fld>
            <a:endParaRPr lang="de-DE"/>
          </a:p>
        </p:txBody>
      </p:sp>
      <p:pic>
        <p:nvPicPr>
          <p:cNvPr id="6" name="Grafik 5" descr="Ein Bild, das Screenshot, Himmel, Cartoon, Pixel enthält.&#10;&#10;KI-generierte Inhalte können fehlerhaft sein.">
            <a:extLst>
              <a:ext uri="{FF2B5EF4-FFF2-40B4-BE49-F238E27FC236}">
                <a16:creationId xmlns:a16="http://schemas.microsoft.com/office/drawing/2014/main" id="{1161A069-2648-4F17-2F68-3CAA1C5C7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702" y="2257219"/>
            <a:ext cx="5704975" cy="3173329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483CF55-8EED-153B-C617-4F399CC503BB}"/>
              </a:ext>
            </a:extLst>
          </p:cNvPr>
          <p:cNvSpPr txBox="1">
            <a:spLocks/>
          </p:cNvSpPr>
          <p:nvPr/>
        </p:nvSpPr>
        <p:spPr>
          <a:xfrm>
            <a:off x="257175" y="1337427"/>
            <a:ext cx="11449050" cy="500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Tx/>
              <a:buNone/>
              <a:defRPr sz="2400" b="1" i="0" kern="1200">
                <a:solidFill>
                  <a:schemeClr val="tx1"/>
                </a:solidFill>
                <a:latin typeface="Meta Pro" panose="02000503040000020004" pitchFamily="2" charset="0"/>
                <a:ea typeface="+mn-ea"/>
                <a:cs typeface="+mn-cs"/>
              </a:defRPr>
            </a:lvl1pPr>
            <a:lvl2pPr marL="468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Helvetica" pitchFamily="2" charset="0"/>
              <a:buChar char="■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2pPr>
            <a:lvl3pPr marL="72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Font typeface="Helvetica" pitchFamily="2" charset="0"/>
              <a:buChar char="■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3pPr>
            <a:lvl4pPr marL="108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accent6"/>
              </a:buClr>
              <a:buFont typeface="Symbol" pitchFamily="2" charset="2"/>
              <a:buChar char="-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4pPr>
            <a:lvl5pPr marL="1440000" indent="-288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Meta Pro Light" panose="0200050604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7995" lvl="1" indent="-287655"/>
            <a:r>
              <a:rPr lang="de-DE" err="1">
                <a:latin typeface="Meta Pro"/>
              </a:rPr>
              <a:t>Improve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the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audio</a:t>
            </a:r>
            <a:endParaRPr lang="de-DE">
              <a:latin typeface="Meta Pro"/>
            </a:endParaRPr>
          </a:p>
          <a:p>
            <a:pPr marL="467995" lvl="1" indent="-287655"/>
            <a:r>
              <a:rPr lang="de-DE">
                <a:latin typeface="Meta Pro"/>
              </a:rPr>
              <a:t>Multicore RISC-V </a:t>
            </a:r>
            <a:r>
              <a:rPr lang="de-DE" err="1">
                <a:latin typeface="Meta Pro"/>
              </a:rPr>
              <a:t>core</a:t>
            </a:r>
            <a:endParaRPr lang="de-DE">
              <a:latin typeface="Meta Pro"/>
            </a:endParaRPr>
          </a:p>
          <a:p>
            <a:pPr marL="467995" lvl="1" indent="-287655"/>
            <a:r>
              <a:rPr lang="de-DE" err="1">
                <a:latin typeface="Meta Pro"/>
              </a:rPr>
              <a:t>Extend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our</a:t>
            </a:r>
            <a:r>
              <a:rPr lang="de-DE">
                <a:latin typeface="Meta Pro"/>
              </a:rPr>
              <a:t> GPU </a:t>
            </a:r>
            <a:r>
              <a:rPr lang="de-DE" err="1">
                <a:latin typeface="Meta Pro"/>
              </a:rPr>
              <a:t>to</a:t>
            </a:r>
            <a:r>
              <a:rPr lang="de-DE">
                <a:latin typeface="Meta Pro"/>
              </a:rPr>
              <a:t> handle 3D</a:t>
            </a:r>
          </a:p>
          <a:p>
            <a:pPr marL="467995" lvl="1" indent="-287655"/>
            <a:r>
              <a:rPr lang="de-DE">
                <a:latin typeface="Meta Pro"/>
              </a:rPr>
              <a:t>2</a:t>
            </a:r>
            <a:r>
              <a:rPr lang="de-DE" baseline="30000">
                <a:latin typeface="Meta Pro"/>
              </a:rPr>
              <a:t>nd</a:t>
            </a:r>
            <a:r>
              <a:rPr lang="de-DE">
                <a:latin typeface="Meta Pro"/>
              </a:rPr>
              <a:t> Game Jam</a:t>
            </a:r>
          </a:p>
          <a:p>
            <a:pPr marL="467995" lvl="1" indent="-287655"/>
            <a:r>
              <a:rPr lang="de-DE" err="1">
                <a:latin typeface="Meta Pro"/>
              </a:rPr>
              <a:t>Integrate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everything</a:t>
            </a:r>
            <a:r>
              <a:rPr lang="de-DE">
                <a:latin typeface="Meta Pro"/>
              </a:rPr>
              <a:t> on a </a:t>
            </a:r>
            <a:r>
              <a:rPr lang="de-DE" err="1">
                <a:latin typeface="Meta Pro"/>
              </a:rPr>
              <a:t>single</a:t>
            </a:r>
            <a:r>
              <a:rPr lang="de-DE">
                <a:latin typeface="Meta Pro"/>
              </a:rPr>
              <a:t> PCB</a:t>
            </a:r>
          </a:p>
          <a:p>
            <a:pPr marL="467995" lvl="1" indent="-287655"/>
            <a:r>
              <a:rPr lang="de-DE" err="1">
                <a:latin typeface="Meta Pro"/>
              </a:rPr>
              <a:t>Tapeout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with</a:t>
            </a:r>
            <a:r>
              <a:rPr lang="de-DE">
                <a:latin typeface="Meta Pro"/>
              </a:rPr>
              <a:t> </a:t>
            </a:r>
            <a:r>
              <a:rPr lang="de-DE" err="1">
                <a:latin typeface="Meta Pro"/>
              </a:rPr>
              <a:t>the</a:t>
            </a:r>
            <a:r>
              <a:rPr lang="de-DE">
                <a:latin typeface="Meta Pro"/>
              </a:rPr>
              <a:t> IHP Open-Source PDK</a:t>
            </a:r>
          </a:p>
          <a:p>
            <a:pPr marL="467995" lvl="1" indent="-287655"/>
            <a:endParaRPr lang="de-DE">
              <a:latin typeface="Meta Pro"/>
            </a:endParaRP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CB942CBE-6C70-B729-9B95-B7C7F84DE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31896" y="1033964"/>
            <a:ext cx="11449050" cy="50038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83685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27B154-98D7-B9FD-3A42-A8851BE24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>
                <a:latin typeface="Meta Pro"/>
              </a:rPr>
              <a:t>References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79D62D-F9AB-3DFD-D37E-4D056CCBF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 fontScale="92500"/>
          </a:bodyPr>
          <a:lstStyle/>
          <a:p>
            <a:pPr marL="457200" indent="-457200">
              <a:buAutoNum type="arabicParenR"/>
            </a:pPr>
            <a:r>
              <a:rPr lang="de-DE" b="0">
                <a:latin typeface="Meta Pro"/>
              </a:rPr>
              <a:t>ULX3S. (2026, May 27). </a:t>
            </a:r>
            <a:r>
              <a:rPr lang="de-DE" b="0" err="1">
                <a:latin typeface="Meta Pro"/>
              </a:rPr>
              <a:t>Retrieved</a:t>
            </a:r>
            <a:r>
              <a:rPr lang="de-DE" b="0">
                <a:latin typeface="Meta Pro"/>
              </a:rPr>
              <a:t> </a:t>
            </a:r>
            <a:r>
              <a:rPr lang="de-DE" b="0" err="1">
                <a:latin typeface="Meta Pro"/>
              </a:rPr>
              <a:t>from</a:t>
            </a:r>
            <a:r>
              <a:rPr lang="de-DE" b="0">
                <a:latin typeface="Meta Pro"/>
              </a:rPr>
              <a:t> https://radiona.org/ulx3s</a:t>
            </a:r>
            <a:endParaRPr lang="de-DE"/>
          </a:p>
          <a:p>
            <a:pPr marL="457200" indent="-457200">
              <a:buAutoNum type="arabicParenR"/>
            </a:pPr>
            <a:r>
              <a:rPr lang="de-DE" b="0" err="1">
                <a:latin typeface="Meta Pro"/>
              </a:rPr>
              <a:t>Behance</a:t>
            </a:r>
            <a:r>
              <a:rPr lang="de-DE" b="0">
                <a:latin typeface="Meta Pro"/>
              </a:rPr>
              <a:t>. (2019). SolidWorks | SNES Controller - Aonghus Quinn. </a:t>
            </a:r>
            <a:r>
              <a:rPr lang="de-DE" b="0" err="1">
                <a:latin typeface="Meta Pro"/>
              </a:rPr>
              <a:t>Behance</a:t>
            </a:r>
            <a:r>
              <a:rPr lang="de-DE" b="0">
                <a:latin typeface="Meta Pro"/>
              </a:rPr>
              <a:t>. </a:t>
            </a:r>
            <a:r>
              <a:rPr lang="de-DE" b="0" err="1">
                <a:latin typeface="Meta Pro"/>
              </a:rPr>
              <a:t>Retrieved</a:t>
            </a:r>
            <a:r>
              <a:rPr lang="de-DE" b="0">
                <a:latin typeface="Meta Pro"/>
              </a:rPr>
              <a:t> </a:t>
            </a:r>
            <a:r>
              <a:rPr lang="de-DE" b="0" err="1">
                <a:latin typeface="Meta Pro"/>
              </a:rPr>
              <a:t>from</a:t>
            </a:r>
            <a:r>
              <a:rPr lang="de-DE" b="0">
                <a:latin typeface="Meta Pro"/>
              </a:rPr>
              <a:t> </a:t>
            </a:r>
            <a:r>
              <a:rPr lang="de-DE" b="0">
                <a:latin typeface="Meta Pro"/>
                <a:hlinkClick r:id="rId2"/>
              </a:rPr>
              <a:t>https://www.behance.net/gallery/74554165/SolidWorks-SNES-Controller?locale=de_DE</a:t>
            </a:r>
            <a:endParaRPr lang="de-DE" b="0">
              <a:latin typeface="Meta Pro"/>
            </a:endParaRPr>
          </a:p>
          <a:p>
            <a:pPr marL="457200" indent="-457200">
              <a:buAutoNum type="arabicParenR"/>
            </a:pPr>
            <a:r>
              <a:rPr lang="de-DE" b="0" err="1">
                <a:latin typeface="Meta Pro"/>
              </a:rPr>
              <a:t>oss</a:t>
            </a:r>
            <a:r>
              <a:rPr lang="de-DE" b="0">
                <a:latin typeface="Meta Pro"/>
              </a:rPr>
              <a:t>-</a:t>
            </a:r>
            <a:r>
              <a:rPr lang="de-DE" b="0" err="1">
                <a:latin typeface="Meta Pro"/>
              </a:rPr>
              <a:t>cad</a:t>
            </a:r>
            <a:r>
              <a:rPr lang="de-DE" b="0">
                <a:latin typeface="Meta Pro"/>
              </a:rPr>
              <a:t>-suite. </a:t>
            </a:r>
            <a:r>
              <a:rPr lang="de-DE" b="0">
                <a:latin typeface="Meta Pro"/>
                <a:hlinkClick r:id="rId3"/>
              </a:rPr>
              <a:t>https://github.com/YosysHQ/oss-cad-suite-build</a:t>
            </a:r>
            <a:endParaRPr lang="de-DE" b="0">
              <a:latin typeface="Meta Pro"/>
            </a:endParaRPr>
          </a:p>
          <a:p>
            <a:pPr marL="457200" indent="-457200">
              <a:buAutoNum type="arabicParenR"/>
            </a:pPr>
            <a:r>
              <a:rPr lang="de-DE" b="0" err="1">
                <a:latin typeface="Meta Pro"/>
              </a:rPr>
              <a:t>Newlib</a:t>
            </a:r>
            <a:r>
              <a:rPr lang="de-DE" b="0">
                <a:latin typeface="Meta Pro"/>
              </a:rPr>
              <a:t>. </a:t>
            </a:r>
            <a:r>
              <a:rPr lang="de-DE" b="0">
                <a:latin typeface="Meta Pro"/>
                <a:hlinkClick r:id="rId4"/>
              </a:rPr>
              <a:t>https://sourceware.org/newlib/</a:t>
            </a:r>
            <a:endParaRPr lang="de-DE" b="0">
              <a:latin typeface="Meta Pro"/>
            </a:endParaRPr>
          </a:p>
          <a:p>
            <a:pPr marL="457200" indent="-457200">
              <a:buAutoNum type="arabicParenR"/>
            </a:pPr>
            <a:r>
              <a:rPr lang="de-DE" b="0" err="1">
                <a:latin typeface="Meta Pro"/>
              </a:rPr>
              <a:t>VexRiscv</a:t>
            </a:r>
            <a:r>
              <a:rPr lang="de-DE" b="0">
                <a:latin typeface="Meta Pro"/>
              </a:rPr>
              <a:t>. </a:t>
            </a:r>
            <a:r>
              <a:rPr lang="de-DE" b="0">
                <a:latin typeface="Meta Pro"/>
                <a:hlinkClick r:id="rId5"/>
              </a:rPr>
              <a:t>https://github.com/SpinalHDL/VexRiscv</a:t>
            </a:r>
            <a:endParaRPr lang="de-DE" b="0">
              <a:latin typeface="Meta Pro"/>
            </a:endParaRPr>
          </a:p>
          <a:p>
            <a:pPr marL="457200" indent="-457200">
              <a:buAutoNum type="arabicParenR"/>
            </a:pPr>
            <a:r>
              <a:rPr lang="de-DE" b="0" err="1">
                <a:latin typeface="Meta Pro"/>
              </a:rPr>
              <a:t>vasm</a:t>
            </a:r>
            <a:r>
              <a:rPr lang="de-DE" b="0">
                <a:latin typeface="Meta Pro"/>
              </a:rPr>
              <a:t>. </a:t>
            </a:r>
            <a:r>
              <a:rPr lang="de-DE" b="0">
                <a:latin typeface="Meta Pro"/>
                <a:hlinkClick r:id="rId6"/>
              </a:rPr>
              <a:t>http://sun.hasenbraten.de/vasm/</a:t>
            </a:r>
          </a:p>
          <a:p>
            <a:pPr marL="457200" indent="-457200">
              <a:buAutoNum type="arabicParenR"/>
            </a:pPr>
            <a:r>
              <a:rPr lang="de-DE" b="0">
                <a:latin typeface="Meta Pro"/>
              </a:rPr>
              <a:t>Martin Iturbide. </a:t>
            </a:r>
            <a:r>
              <a:rPr lang="de-DE" b="0">
                <a:latin typeface="Meta Pro"/>
                <a:hlinkClick r:id="rId7"/>
              </a:rPr>
              <a:t>https://commons.wikimedia.org/wiki/File:Nintendo_Gamecube_Silver.JPG</a:t>
            </a:r>
            <a:r>
              <a:rPr lang="de-DE">
                <a:latin typeface="Meta Pro"/>
              </a:rPr>
              <a:t> </a:t>
            </a:r>
            <a:r>
              <a:rPr lang="de-DE" b="0">
                <a:latin typeface="Meta Pro"/>
              </a:rPr>
              <a:t>(GNU FDL, </a:t>
            </a:r>
            <a:r>
              <a:rPr lang="de-DE" b="0" err="1">
                <a:latin typeface="Meta Pro"/>
              </a:rPr>
              <a:t>unmodified</a:t>
            </a:r>
            <a:r>
              <a:rPr lang="de-DE" b="0">
                <a:latin typeface="Meta Pro"/>
              </a:rPr>
              <a:t>)</a:t>
            </a:r>
          </a:p>
          <a:p>
            <a:pPr marL="457200" indent="-457200">
              <a:buAutoNum type="arabicParenR"/>
            </a:pPr>
            <a:r>
              <a:rPr lang="de-DE" b="0">
                <a:latin typeface="Meta Pro"/>
              </a:rPr>
              <a:t>Evan-Amos. </a:t>
            </a:r>
            <a:r>
              <a:rPr lang="de-DE" b="0">
                <a:latin typeface="Meta Pro"/>
                <a:hlinkClick r:id="rId8"/>
              </a:rPr>
              <a:t>https://commons.wikimedia.org/wiki/File:Nintendo-Switch-wJoyCons-BlRd-Standing-FL.png</a:t>
            </a:r>
            <a:endParaRPr lang="de-DE" b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FC1CEE1-03D4-1D97-B2B3-F48F26F00F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wueHans | Yannik Stamm, Jonathan Hager, Timo Grundheber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7030C4-99FA-256B-8236-7FD613C397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BAC59-7618-A949-8C39-4EE42A6BFE56}" type="slidenum">
              <a:rPr lang="de-DE" smtClean="0"/>
              <a:pPr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463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UniWueCE">
      <a:dk1>
        <a:srgbClr val="000000"/>
      </a:dk1>
      <a:lt1>
        <a:srgbClr val="FFFFFF"/>
      </a:lt1>
      <a:dk2>
        <a:srgbClr val="BBCBDE"/>
      </a:dk2>
      <a:lt2>
        <a:srgbClr val="E7E6E6"/>
      </a:lt2>
      <a:accent1>
        <a:srgbClr val="00488D"/>
      </a:accent1>
      <a:accent2>
        <a:srgbClr val="F7921D"/>
      </a:accent2>
      <a:accent3>
        <a:srgbClr val="BA3533"/>
      </a:accent3>
      <a:accent4>
        <a:srgbClr val="5FBA33"/>
      </a:accent4>
      <a:accent5>
        <a:srgbClr val="CC00FE"/>
      </a:accent5>
      <a:accent6>
        <a:srgbClr val="D1D4D4"/>
      </a:accent6>
      <a:hlink>
        <a:srgbClr val="1E5393"/>
      </a:hlink>
      <a:folHlink>
        <a:srgbClr val="1E539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" id="{10423B48-2CB6-9149-9A6F-4DF6C7E43D35}" vid="{33823078-96F7-5A4F-83D6-9F537FE56A0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f1f106-d85f-437b-8732-ab5a89fe4b6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DC04E7073E08B4494D337A40FF7A8CF" ma:contentTypeVersion="5" ma:contentTypeDescription="Ein neues Dokument erstellen." ma:contentTypeScope="" ma:versionID="9232f5c3a92bcde5baec522b9307243d">
  <xsd:schema xmlns:xsd="http://www.w3.org/2001/XMLSchema" xmlns:xs="http://www.w3.org/2001/XMLSchema" xmlns:p="http://schemas.microsoft.com/office/2006/metadata/properties" xmlns:ns3="2bf1f106-d85f-437b-8732-ab5a89fe4b62" targetNamespace="http://schemas.microsoft.com/office/2006/metadata/properties" ma:root="true" ma:fieldsID="55a09c0dce9566aa4fed5ad8117ae2d9" ns3:_="">
    <xsd:import namespace="2bf1f106-d85f-437b-8732-ab5a89fe4b6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f1f106-d85f-437b-8732-ab5a89fe4b6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64CB27-C197-4770-B37B-FA500FFBAFB5}">
  <ds:schemaRefs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purl.org/dc/terms/"/>
    <ds:schemaRef ds:uri="2bf1f106-d85f-437b-8732-ab5a89fe4b6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3EC129E-BD0F-482F-90ED-75C657992D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F0CDA1-D946-4C6B-BB69-D9F00C6C4B54}">
  <ds:schemaRefs>
    <ds:schemaRef ds:uri="2bf1f106-d85f-437b-8732-ab5a89fe4b6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930</Words>
  <Application>Microsoft Office PowerPoint</Application>
  <PresentationFormat>Widescreen</PresentationFormat>
  <Paragraphs>219</Paragraphs>
  <Slides>24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</vt:lpstr>
      <vt:lpstr>wueHans: A Full-Stack Open-Source RISC-V Gaming Console and SoC Architecture </vt:lpstr>
      <vt:lpstr>Different consoles</vt:lpstr>
      <vt:lpstr>Progress of our console</vt:lpstr>
      <vt:lpstr>Console Architecture</vt:lpstr>
      <vt:lpstr>RISC-V CPU</vt:lpstr>
      <vt:lpstr>Sprite-Based GPU</vt:lpstr>
      <vt:lpstr>Sprite-Based GPU</vt:lpstr>
      <vt:lpstr>Audio System</vt:lpstr>
      <vt:lpstr>Prototype</vt:lpstr>
      <vt:lpstr>Prototype</vt:lpstr>
      <vt:lpstr>Prototype - Controller</vt:lpstr>
      <vt:lpstr>Prototype - Audio</vt:lpstr>
      <vt:lpstr>Prototype - Case</vt:lpstr>
      <vt:lpstr>Prototype - "Workstation"</vt:lpstr>
      <vt:lpstr>Prototype</vt:lpstr>
      <vt:lpstr>EDA Tools &amp; Software</vt:lpstr>
      <vt:lpstr>Game Jam</vt:lpstr>
      <vt:lpstr>Current Games</vt:lpstr>
      <vt:lpstr>Current Games</vt:lpstr>
      <vt:lpstr>Current Games</vt:lpstr>
      <vt:lpstr>Current Games</vt:lpstr>
      <vt:lpstr>Current Games</vt:lpstr>
      <vt:lpstr>Next Steps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&gt;&gt; It‘s the Memory, Stupid! &lt;&lt;</dc:title>
  <dc:creator>Matthias Jung</dc:creator>
  <cp:lastModifiedBy>Timo Grundheber</cp:lastModifiedBy>
  <cp:revision>4</cp:revision>
  <dcterms:created xsi:type="dcterms:W3CDTF">2023-05-19T12:27:17Z</dcterms:created>
  <dcterms:modified xsi:type="dcterms:W3CDTF">2026-10-08T07:40:17Z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0x010100EDC04E7073E08B4494D337A40FF7A8CF</vt:lpwstr>
  </property>
</Properties>
</file>